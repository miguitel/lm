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0"/>
  </p:notesMasterIdLst>
  <p:sldIdLst>
    <p:sldId id="256" r:id="rId2"/>
    <p:sldId id="257" r:id="rId3"/>
    <p:sldId id="287" r:id="rId4"/>
    <p:sldId id="303" r:id="rId5"/>
    <p:sldId id="292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295" r:id="rId14"/>
    <p:sldId id="290" r:id="rId15"/>
    <p:sldId id="291" r:id="rId16"/>
    <p:sldId id="293" r:id="rId17"/>
    <p:sldId id="296" r:id="rId18"/>
    <p:sldId id="298" r:id="rId19"/>
    <p:sldId id="297" r:id="rId20"/>
    <p:sldId id="302" r:id="rId21"/>
    <p:sldId id="314" r:id="rId22"/>
    <p:sldId id="294" r:id="rId23"/>
    <p:sldId id="315" r:id="rId24"/>
    <p:sldId id="299" r:id="rId25"/>
    <p:sldId id="313" r:id="rId26"/>
    <p:sldId id="311" r:id="rId27"/>
    <p:sldId id="312" r:id="rId28"/>
    <p:sldId id="301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F8732-02CE-7356-7CA1-B537B677FD91}" v="597" dt="2025-11-10T08:26:00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86410"/>
  </p:normalViewPr>
  <p:slideViewPr>
    <p:cSldViewPr snapToGrid="0">
      <p:cViewPr varScale="1">
        <p:scale>
          <a:sx n="55" d="100"/>
          <a:sy n="55" d="100"/>
        </p:scale>
        <p:origin x="974" y="36"/>
      </p:cViewPr>
      <p:guideLst/>
    </p:cSldViewPr>
  </p:slideViewPr>
  <p:outlineViewPr>
    <p:cViewPr>
      <p:scale>
        <a:sx n="33" d="100"/>
        <a:sy n="33" d="100"/>
      </p:scale>
      <p:origin x="0" y="-2330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TRIGUEROS MUÑOZ" userId="S::miguel.trigueros@aulaxxi.murciaeduca.es::a4ee0321-97d7-430f-98a8-7ed13ff9a4bf" providerId="AD" clId="Web-{9131C58A-2614-62C5-2BF3-732788DC0F2E}"/>
    <pc:docChg chg="modSld">
      <pc:chgData name="MIGUEL TRIGUEROS MUÑOZ" userId="S::miguel.trigueros@aulaxxi.murciaeduca.es::a4ee0321-97d7-430f-98a8-7ed13ff9a4bf" providerId="AD" clId="Web-{9131C58A-2614-62C5-2BF3-732788DC0F2E}" dt="2025-11-03T11:13:04.964" v="0" actId="20577"/>
      <pc:docMkLst>
        <pc:docMk/>
      </pc:docMkLst>
      <pc:sldChg chg="modSp">
        <pc:chgData name="MIGUEL TRIGUEROS MUÑOZ" userId="S::miguel.trigueros@aulaxxi.murciaeduca.es::a4ee0321-97d7-430f-98a8-7ed13ff9a4bf" providerId="AD" clId="Web-{9131C58A-2614-62C5-2BF3-732788DC0F2E}" dt="2025-11-03T11:13:04.964" v="0" actId="20577"/>
        <pc:sldMkLst>
          <pc:docMk/>
          <pc:sldMk cId="2038958623" sldId="292"/>
        </pc:sldMkLst>
        <pc:spChg chg="mod">
          <ac:chgData name="MIGUEL TRIGUEROS MUÑOZ" userId="S::miguel.trigueros@aulaxxi.murciaeduca.es::a4ee0321-97d7-430f-98a8-7ed13ff9a4bf" providerId="AD" clId="Web-{9131C58A-2614-62C5-2BF3-732788DC0F2E}" dt="2025-11-03T11:13:04.964" v="0" actId="20577"/>
          <ac:spMkLst>
            <pc:docMk/>
            <pc:sldMk cId="2038958623" sldId="292"/>
            <ac:spMk id="3" creationId="{7C02FA05-902D-DC4B-9357-F1DFBBF02A80}"/>
          </ac:spMkLst>
        </pc:spChg>
      </pc:sldChg>
    </pc:docChg>
  </pc:docChgLst>
  <pc:docChgLst>
    <pc:chgData name="MIGUEL TRIGUEROS MUÑOZ" userId="S::miguel.trigueros@aulaxxi.murciaeduca.es::a4ee0321-97d7-430f-98a8-7ed13ff9a4bf" providerId="AD" clId="Web-{A67F23DA-92C5-4993-98D5-E674DA8E89F7}"/>
    <pc:docChg chg="modSld">
      <pc:chgData name="MIGUEL TRIGUEROS MUÑOZ" userId="S::miguel.trigueros@aulaxxi.murciaeduca.es::a4ee0321-97d7-430f-98a8-7ed13ff9a4bf" providerId="AD" clId="Web-{A67F23DA-92C5-4993-98D5-E674DA8E89F7}" dt="2025-11-02T08:07:31.811" v="65" actId="20577"/>
      <pc:docMkLst>
        <pc:docMk/>
      </pc:docMkLst>
      <pc:sldChg chg="modSp">
        <pc:chgData name="MIGUEL TRIGUEROS MUÑOZ" userId="S::miguel.trigueros@aulaxxi.murciaeduca.es::a4ee0321-97d7-430f-98a8-7ed13ff9a4bf" providerId="AD" clId="Web-{A67F23DA-92C5-4993-98D5-E674DA8E89F7}" dt="2025-11-02T08:00:28.696" v="1" actId="20577"/>
        <pc:sldMkLst>
          <pc:docMk/>
          <pc:sldMk cId="180088598" sldId="290"/>
        </pc:sldMkLst>
        <pc:spChg chg="mod">
          <ac:chgData name="MIGUEL TRIGUEROS MUÑOZ" userId="S::miguel.trigueros@aulaxxi.murciaeduca.es::a4ee0321-97d7-430f-98a8-7ed13ff9a4bf" providerId="AD" clId="Web-{A67F23DA-92C5-4993-98D5-E674DA8E89F7}" dt="2025-11-02T08:00:28.696" v="1" actId="20577"/>
          <ac:spMkLst>
            <pc:docMk/>
            <pc:sldMk cId="180088598" sldId="290"/>
            <ac:spMk id="3" creationId="{880BFFB4-3592-2E18-6528-2685455547F3}"/>
          </ac:spMkLst>
        </pc:spChg>
      </pc:sldChg>
      <pc:sldChg chg="modSp">
        <pc:chgData name="MIGUEL TRIGUEROS MUÑOZ" userId="S::miguel.trigueros@aulaxxi.murciaeduca.es::a4ee0321-97d7-430f-98a8-7ed13ff9a4bf" providerId="AD" clId="Web-{A67F23DA-92C5-4993-98D5-E674DA8E89F7}" dt="2025-11-02T07:57:43.819" v="0" actId="1076"/>
        <pc:sldMkLst>
          <pc:docMk/>
          <pc:sldMk cId="625339473" sldId="305"/>
        </pc:sldMkLst>
        <pc:picChg chg="mod">
          <ac:chgData name="MIGUEL TRIGUEROS MUÑOZ" userId="S::miguel.trigueros@aulaxxi.murciaeduca.es::a4ee0321-97d7-430f-98a8-7ed13ff9a4bf" providerId="AD" clId="Web-{A67F23DA-92C5-4993-98D5-E674DA8E89F7}" dt="2025-11-02T07:57:43.819" v="0" actId="1076"/>
          <ac:picMkLst>
            <pc:docMk/>
            <pc:sldMk cId="625339473" sldId="305"/>
            <ac:picMk id="5" creationId="{6022885B-313E-5BA7-0799-813B6B18E084}"/>
          </ac:picMkLst>
        </pc:picChg>
      </pc:sldChg>
      <pc:sldChg chg="modSp">
        <pc:chgData name="MIGUEL TRIGUEROS MUÑOZ" userId="S::miguel.trigueros@aulaxxi.murciaeduca.es::a4ee0321-97d7-430f-98a8-7ed13ff9a4bf" providerId="AD" clId="Web-{A67F23DA-92C5-4993-98D5-E674DA8E89F7}" dt="2025-11-02T08:07:31.811" v="65" actId="20577"/>
        <pc:sldMkLst>
          <pc:docMk/>
          <pc:sldMk cId="774195443" sldId="313"/>
        </pc:sldMkLst>
        <pc:spChg chg="mod">
          <ac:chgData name="MIGUEL TRIGUEROS MUÑOZ" userId="S::miguel.trigueros@aulaxxi.murciaeduca.es::a4ee0321-97d7-430f-98a8-7ed13ff9a4bf" providerId="AD" clId="Web-{A67F23DA-92C5-4993-98D5-E674DA8E89F7}" dt="2025-11-02T08:07:31.811" v="65" actId="20577"/>
          <ac:spMkLst>
            <pc:docMk/>
            <pc:sldMk cId="774195443" sldId="313"/>
            <ac:spMk id="4" creationId="{FAF7ADF2-B040-3669-33C7-67C74BD27EDB}"/>
          </ac:spMkLst>
        </pc:spChg>
      </pc:sldChg>
    </pc:docChg>
  </pc:docChgLst>
  <pc:docChgLst>
    <pc:chgData name="MIGUEL TRIGUEROS MUÑOZ" userId="S::miguel.trigueros@aulaxxi.murciaeduca.es::a4ee0321-97d7-430f-98a8-7ed13ff9a4bf" providerId="AD" clId="Web-{E1FDB033-15D9-5D23-8ABC-A55BA93C694D}"/>
    <pc:docChg chg="modSld">
      <pc:chgData name="MIGUEL TRIGUEROS MUÑOZ" userId="S::miguel.trigueros@aulaxxi.murciaeduca.es::a4ee0321-97d7-430f-98a8-7ed13ff9a4bf" providerId="AD" clId="Web-{E1FDB033-15D9-5D23-8ABC-A55BA93C694D}" dt="2025-11-06T07:44:52.157" v="25" actId="20577"/>
      <pc:docMkLst>
        <pc:docMk/>
      </pc:docMkLst>
      <pc:sldChg chg="addSp delSp modSp">
        <pc:chgData name="MIGUEL TRIGUEROS MUÑOZ" userId="S::miguel.trigueros@aulaxxi.murciaeduca.es::a4ee0321-97d7-430f-98a8-7ed13ff9a4bf" providerId="AD" clId="Web-{E1FDB033-15D9-5D23-8ABC-A55BA93C694D}" dt="2025-11-06T07:28:40.064" v="24"/>
        <pc:sldMkLst>
          <pc:docMk/>
          <pc:sldMk cId="693830253" sldId="257"/>
        </pc:sldMkLst>
      </pc:sldChg>
      <pc:sldChg chg="addSp delSp modSp">
        <pc:chgData name="MIGUEL TRIGUEROS MUÑOZ" userId="S::miguel.trigueros@aulaxxi.murciaeduca.es::a4ee0321-97d7-430f-98a8-7ed13ff9a4bf" providerId="AD" clId="Web-{E1FDB033-15D9-5D23-8ABC-A55BA93C694D}" dt="2025-11-06T07:44:52.157" v="25" actId="20577"/>
        <pc:sldMkLst>
          <pc:docMk/>
          <pc:sldMk cId="2675676097" sldId="287"/>
        </pc:sldMkLst>
        <pc:spChg chg="mod">
          <ac:chgData name="MIGUEL TRIGUEROS MUÑOZ" userId="S::miguel.trigueros@aulaxxi.murciaeduca.es::a4ee0321-97d7-430f-98a8-7ed13ff9a4bf" providerId="AD" clId="Web-{E1FDB033-15D9-5D23-8ABC-A55BA93C694D}" dt="2025-11-06T07:44:52.157" v="25" actId="20577"/>
          <ac:spMkLst>
            <pc:docMk/>
            <pc:sldMk cId="2675676097" sldId="287"/>
            <ac:spMk id="3" creationId="{30A286A7-6D11-5E4F-F33F-3D584563C116}"/>
          </ac:spMkLst>
        </pc:spChg>
        <pc:picChg chg="add mod">
          <ac:chgData name="MIGUEL TRIGUEROS MUÑOZ" userId="S::miguel.trigueros@aulaxxi.murciaeduca.es::a4ee0321-97d7-430f-98a8-7ed13ff9a4bf" providerId="AD" clId="Web-{E1FDB033-15D9-5D23-8ABC-A55BA93C694D}" dt="2025-11-06T07:28:16.766" v="23" actId="1076"/>
          <ac:picMkLst>
            <pc:docMk/>
            <pc:sldMk cId="2675676097" sldId="287"/>
            <ac:picMk id="5" creationId="{265E60E2-8687-1F0A-13D9-F9840B7DE36D}"/>
          </ac:picMkLst>
        </pc:picChg>
        <pc:inkChg chg="add">
          <ac:chgData name="MIGUEL TRIGUEROS MUÑOZ" userId="S::miguel.trigueros@aulaxxi.murciaeduca.es::a4ee0321-97d7-430f-98a8-7ed13ff9a4bf" providerId="AD" clId="Web-{E1FDB033-15D9-5D23-8ABC-A55BA93C694D}" dt="2025-11-06T07:27:59.016" v="17"/>
          <ac:inkMkLst>
            <pc:docMk/>
            <pc:sldMk cId="2675676097" sldId="287"/>
            <ac:inkMk id="8" creationId="{6F3C638F-4A0B-9FF5-C6B5-98721AD91AE6}"/>
          </ac:inkMkLst>
        </pc:inkChg>
        <pc:inkChg chg="add">
          <ac:chgData name="MIGUEL TRIGUEROS MUÑOZ" userId="S::miguel.trigueros@aulaxxi.murciaeduca.es::a4ee0321-97d7-430f-98a8-7ed13ff9a4bf" providerId="AD" clId="Web-{E1FDB033-15D9-5D23-8ABC-A55BA93C694D}" dt="2025-11-06T07:28:01.547" v="18"/>
          <ac:inkMkLst>
            <pc:docMk/>
            <pc:sldMk cId="2675676097" sldId="287"/>
            <ac:inkMk id="9" creationId="{ABD8B4FD-FAB8-E6CB-B350-521F3F5B8DA4}"/>
          </ac:inkMkLst>
        </pc:inkChg>
        <pc:inkChg chg="add">
          <ac:chgData name="MIGUEL TRIGUEROS MUÑOZ" userId="S::miguel.trigueros@aulaxxi.murciaeduca.es::a4ee0321-97d7-430f-98a8-7ed13ff9a4bf" providerId="AD" clId="Web-{E1FDB033-15D9-5D23-8ABC-A55BA93C694D}" dt="2025-11-06T07:28:04.969" v="19"/>
          <ac:inkMkLst>
            <pc:docMk/>
            <pc:sldMk cId="2675676097" sldId="287"/>
            <ac:inkMk id="10" creationId="{940F610F-3395-FAFF-11AA-59B2ACF3C7CA}"/>
          </ac:inkMkLst>
        </pc:inkChg>
      </pc:sldChg>
    </pc:docChg>
  </pc:docChgLst>
  <pc:docChgLst>
    <pc:chgData name="MIGUEL TRIGUEROS MUÑOZ" userId="S::miguel.trigueros@aulaxxi.murciaeduca.es::a4ee0321-97d7-430f-98a8-7ed13ff9a4bf" providerId="AD" clId="Web-{2401505E-7AA4-C819-3B34-379656624DB2}"/>
    <pc:docChg chg="modSld">
      <pc:chgData name="MIGUEL TRIGUEROS MUÑOZ" userId="S::miguel.trigueros@aulaxxi.murciaeduca.es::a4ee0321-97d7-430f-98a8-7ed13ff9a4bf" providerId="AD" clId="Web-{2401505E-7AA4-C819-3B34-379656624DB2}" dt="2025-11-03T08:30:40.503" v="17" actId="20577"/>
      <pc:docMkLst>
        <pc:docMk/>
      </pc:docMkLst>
      <pc:sldChg chg="modSp">
        <pc:chgData name="MIGUEL TRIGUEROS MUÑOZ" userId="S::miguel.trigueros@aulaxxi.murciaeduca.es::a4ee0321-97d7-430f-98a8-7ed13ff9a4bf" providerId="AD" clId="Web-{2401505E-7AA4-C819-3B34-379656624DB2}" dt="2025-11-03T08:30:40.503" v="17" actId="20577"/>
        <pc:sldMkLst>
          <pc:docMk/>
          <pc:sldMk cId="2675676097" sldId="287"/>
        </pc:sldMkLst>
        <pc:spChg chg="mod">
          <ac:chgData name="MIGUEL TRIGUEROS MUÑOZ" userId="S::miguel.trigueros@aulaxxi.murciaeduca.es::a4ee0321-97d7-430f-98a8-7ed13ff9a4bf" providerId="AD" clId="Web-{2401505E-7AA4-C819-3B34-379656624DB2}" dt="2025-11-03T08:30:40.503" v="17" actId="20577"/>
          <ac:spMkLst>
            <pc:docMk/>
            <pc:sldMk cId="2675676097" sldId="287"/>
            <ac:spMk id="3" creationId="{30A286A7-6D11-5E4F-F33F-3D584563C116}"/>
          </ac:spMkLst>
        </pc:spChg>
      </pc:sldChg>
    </pc:docChg>
  </pc:docChgLst>
  <pc:docChgLst>
    <pc:chgData name="MIGUEL TRIGUEROS MUÑOZ" userId="S::miguel.trigueros@aulaxxi.murciaeduca.es::a4ee0321-97d7-430f-98a8-7ed13ff9a4bf" providerId="AD" clId="Web-{705F8732-02CE-7356-7CA1-B537B677FD91}"/>
    <pc:docChg chg="addSld modSld sldOrd">
      <pc:chgData name="MIGUEL TRIGUEROS MUÑOZ" userId="S::miguel.trigueros@aulaxxi.murciaeduca.es::a4ee0321-97d7-430f-98a8-7ed13ff9a4bf" providerId="AD" clId="Web-{705F8732-02CE-7356-7CA1-B537B677FD91}" dt="2025-11-10T08:42:30.070" v="772"/>
      <pc:docMkLst>
        <pc:docMk/>
      </pc:docMkLst>
      <pc:sldChg chg="modSp">
        <pc:chgData name="MIGUEL TRIGUEROS MUÑOZ" userId="S::miguel.trigueros@aulaxxi.murciaeduca.es::a4ee0321-97d7-430f-98a8-7ed13ff9a4bf" providerId="AD" clId="Web-{705F8732-02CE-7356-7CA1-B537B677FD91}" dt="2025-11-10T08:07:41.324" v="490" actId="20577"/>
        <pc:sldMkLst>
          <pc:docMk/>
          <pc:sldMk cId="693830253" sldId="257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8:07:41.324" v="490" actId="20577"/>
          <ac:spMkLst>
            <pc:docMk/>
            <pc:sldMk cId="693830253" sldId="257"/>
            <ac:spMk id="3" creationId="{F826A147-119F-2F70-9EFF-0DA3476843EF}"/>
          </ac:spMkLst>
        </pc:spChg>
      </pc:sldChg>
      <pc:sldChg chg="modNotes">
        <pc:chgData name="MIGUEL TRIGUEROS MUÑOZ" userId="S::miguel.trigueros@aulaxxi.murciaeduca.es::a4ee0321-97d7-430f-98a8-7ed13ff9a4bf" providerId="AD" clId="Web-{705F8732-02CE-7356-7CA1-B537B677FD91}" dt="2025-11-10T08:42:30.070" v="772"/>
        <pc:sldMkLst>
          <pc:docMk/>
          <pc:sldMk cId="2675676097" sldId="287"/>
        </pc:sldMkLst>
      </pc:sldChg>
      <pc:sldChg chg="modSp">
        <pc:chgData name="MIGUEL TRIGUEROS MUÑOZ" userId="S::miguel.trigueros@aulaxxi.murciaeduca.es::a4ee0321-97d7-430f-98a8-7ed13ff9a4bf" providerId="AD" clId="Web-{705F8732-02CE-7356-7CA1-B537B677FD91}" dt="2025-11-09T16:51:20.615" v="45" actId="20577"/>
        <pc:sldMkLst>
          <pc:docMk/>
          <pc:sldMk cId="180088598" sldId="290"/>
        </pc:sldMkLst>
        <pc:spChg chg="mod">
          <ac:chgData name="MIGUEL TRIGUEROS MUÑOZ" userId="S::miguel.trigueros@aulaxxi.murciaeduca.es::a4ee0321-97d7-430f-98a8-7ed13ff9a4bf" providerId="AD" clId="Web-{705F8732-02CE-7356-7CA1-B537B677FD91}" dt="2025-11-09T16:51:20.615" v="45" actId="20577"/>
          <ac:spMkLst>
            <pc:docMk/>
            <pc:sldMk cId="180088598" sldId="290"/>
            <ac:spMk id="2" creationId="{7F7B07BC-421A-73B1-CCEF-613B8942AB94}"/>
          </ac:spMkLst>
        </pc:spChg>
      </pc:sldChg>
      <pc:sldChg chg="addSp modSp">
        <pc:chgData name="MIGUEL TRIGUEROS MUÑOZ" userId="S::miguel.trigueros@aulaxxi.murciaeduca.es::a4ee0321-97d7-430f-98a8-7ed13ff9a4bf" providerId="AD" clId="Web-{705F8732-02CE-7356-7CA1-B537B677FD91}" dt="2025-11-10T08:04:42.930" v="367" actId="20577"/>
        <pc:sldMkLst>
          <pc:docMk/>
          <pc:sldMk cId="2743690613" sldId="294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8:04:42.930" v="367" actId="20577"/>
          <ac:spMkLst>
            <pc:docMk/>
            <pc:sldMk cId="2743690613" sldId="294"/>
            <ac:spMk id="5" creationId="{F176ABA4-3D83-9813-75F4-91E0766EF348}"/>
          </ac:spMkLst>
        </pc:spChg>
        <pc:picChg chg="add mod">
          <ac:chgData name="MIGUEL TRIGUEROS MUÑOZ" userId="S::miguel.trigueros@aulaxxi.murciaeduca.es::a4ee0321-97d7-430f-98a8-7ed13ff9a4bf" providerId="AD" clId="Web-{705F8732-02CE-7356-7CA1-B537B677FD91}" dt="2025-11-09T17:16:15.260" v="62" actId="1076"/>
          <ac:picMkLst>
            <pc:docMk/>
            <pc:sldMk cId="2743690613" sldId="294"/>
            <ac:picMk id="3" creationId="{450913E9-6743-C042-310F-8C7445C62412}"/>
          </ac:picMkLst>
        </pc:picChg>
        <pc:picChg chg="add mod">
          <ac:chgData name="MIGUEL TRIGUEROS MUÑOZ" userId="S::miguel.trigueros@aulaxxi.murciaeduca.es::a4ee0321-97d7-430f-98a8-7ed13ff9a4bf" providerId="AD" clId="Web-{705F8732-02CE-7356-7CA1-B537B677FD91}" dt="2025-11-09T17:16:07.978" v="60" actId="1076"/>
          <ac:picMkLst>
            <pc:docMk/>
            <pc:sldMk cId="2743690613" sldId="294"/>
            <ac:picMk id="6" creationId="{B9D9BBE6-FF6E-43BB-C9F4-B088C76A1539}"/>
          </ac:picMkLst>
        </pc:picChg>
      </pc:sldChg>
      <pc:sldChg chg="modSp">
        <pc:chgData name="MIGUEL TRIGUEROS MUÑOZ" userId="S::miguel.trigueros@aulaxxi.murciaeduca.es::a4ee0321-97d7-430f-98a8-7ed13ff9a4bf" providerId="AD" clId="Web-{705F8732-02CE-7356-7CA1-B537B677FD91}" dt="2025-11-09T16:54:02.962" v="49" actId="20577"/>
        <pc:sldMkLst>
          <pc:docMk/>
          <pc:sldMk cId="808142177" sldId="296"/>
        </pc:sldMkLst>
        <pc:spChg chg="mod">
          <ac:chgData name="MIGUEL TRIGUEROS MUÑOZ" userId="S::miguel.trigueros@aulaxxi.murciaeduca.es::a4ee0321-97d7-430f-98a8-7ed13ff9a4bf" providerId="AD" clId="Web-{705F8732-02CE-7356-7CA1-B537B677FD91}" dt="2025-11-09T16:54:02.962" v="49" actId="20577"/>
          <ac:spMkLst>
            <pc:docMk/>
            <pc:sldMk cId="808142177" sldId="296"/>
            <ac:spMk id="3" creationId="{75A123A9-568A-3A45-B5F3-520B2ED38E38}"/>
          </ac:spMkLst>
        </pc:spChg>
        <pc:picChg chg="mod">
          <ac:chgData name="MIGUEL TRIGUEROS MUÑOZ" userId="S::miguel.trigueros@aulaxxi.murciaeduca.es::a4ee0321-97d7-430f-98a8-7ed13ff9a4bf" providerId="AD" clId="Web-{705F8732-02CE-7356-7CA1-B537B677FD91}" dt="2025-11-09T16:53:31.118" v="47" actId="1076"/>
          <ac:picMkLst>
            <pc:docMk/>
            <pc:sldMk cId="808142177" sldId="296"/>
            <ac:picMk id="5" creationId="{46230BF6-F4BD-FA3B-7489-14236E1FBB84}"/>
          </ac:picMkLst>
        </pc:picChg>
      </pc:sldChg>
      <pc:sldChg chg="delSp modSp">
        <pc:chgData name="MIGUEL TRIGUEROS MUÑOZ" userId="S::miguel.trigueros@aulaxxi.murciaeduca.es::a4ee0321-97d7-430f-98a8-7ed13ff9a4bf" providerId="AD" clId="Web-{705F8732-02CE-7356-7CA1-B537B677FD91}" dt="2025-11-10T08:12:46.797" v="546" actId="1076"/>
        <pc:sldMkLst>
          <pc:docMk/>
          <pc:sldMk cId="4167718712" sldId="297"/>
        </pc:sldMkLst>
        <pc:spChg chg="del">
          <ac:chgData name="MIGUEL TRIGUEROS MUÑOZ" userId="S::miguel.trigueros@aulaxxi.murciaeduca.es::a4ee0321-97d7-430f-98a8-7ed13ff9a4bf" providerId="AD" clId="Web-{705F8732-02CE-7356-7CA1-B537B677FD91}" dt="2025-11-10T08:02:51.817" v="333"/>
          <ac:spMkLst>
            <pc:docMk/>
            <pc:sldMk cId="4167718712" sldId="297"/>
            <ac:spMk id="10" creationId="{7C232C5D-44A0-D7A7-7E85-E8CF708C5C89}"/>
          </ac:spMkLst>
        </pc:spChg>
        <pc:picChg chg="mod">
          <ac:chgData name="MIGUEL TRIGUEROS MUÑOZ" userId="S::miguel.trigueros@aulaxxi.murciaeduca.es::a4ee0321-97d7-430f-98a8-7ed13ff9a4bf" providerId="AD" clId="Web-{705F8732-02CE-7356-7CA1-B537B677FD91}" dt="2025-11-10T08:12:37.875" v="542" actId="1076"/>
          <ac:picMkLst>
            <pc:docMk/>
            <pc:sldMk cId="4167718712" sldId="297"/>
            <ac:picMk id="5" creationId="{817A323B-E2C8-8F2A-3AEC-28989D453310}"/>
          </ac:picMkLst>
        </pc:picChg>
        <pc:picChg chg="mod">
          <ac:chgData name="MIGUEL TRIGUEROS MUÑOZ" userId="S::miguel.trigueros@aulaxxi.murciaeduca.es::a4ee0321-97d7-430f-98a8-7ed13ff9a4bf" providerId="AD" clId="Web-{705F8732-02CE-7356-7CA1-B537B677FD91}" dt="2025-11-10T08:12:40.641" v="544" actId="1076"/>
          <ac:picMkLst>
            <pc:docMk/>
            <pc:sldMk cId="4167718712" sldId="297"/>
            <ac:picMk id="7" creationId="{6471DF57-F047-360F-7938-7615550C3CD7}"/>
          </ac:picMkLst>
        </pc:picChg>
        <pc:picChg chg="mod">
          <ac:chgData name="MIGUEL TRIGUEROS MUÑOZ" userId="S::miguel.trigueros@aulaxxi.murciaeduca.es::a4ee0321-97d7-430f-98a8-7ed13ff9a4bf" providerId="AD" clId="Web-{705F8732-02CE-7356-7CA1-B537B677FD91}" dt="2025-11-10T08:12:46.797" v="546" actId="1076"/>
          <ac:picMkLst>
            <pc:docMk/>
            <pc:sldMk cId="4167718712" sldId="297"/>
            <ac:picMk id="8" creationId="{62BF2220-ED41-516D-0B44-208CE96C2FE5}"/>
          </ac:picMkLst>
        </pc:picChg>
        <pc:cxnChg chg="del">
          <ac:chgData name="MIGUEL TRIGUEROS MUÑOZ" userId="S::miguel.trigueros@aulaxxi.murciaeduca.es::a4ee0321-97d7-430f-98a8-7ed13ff9a4bf" providerId="AD" clId="Web-{705F8732-02CE-7356-7CA1-B537B677FD91}" dt="2025-11-10T08:02:50.051" v="332"/>
          <ac:cxnSpMkLst>
            <pc:docMk/>
            <pc:sldMk cId="4167718712" sldId="297"/>
            <ac:cxnSpMk id="6" creationId="{6061023A-516E-C7AB-7546-028DD7F3672C}"/>
          </ac:cxnSpMkLst>
        </pc:cxnChg>
      </pc:sldChg>
      <pc:sldChg chg="modSp">
        <pc:chgData name="MIGUEL TRIGUEROS MUÑOZ" userId="S::miguel.trigueros@aulaxxi.murciaeduca.es::a4ee0321-97d7-430f-98a8-7ed13ff9a4bf" providerId="AD" clId="Web-{705F8732-02CE-7356-7CA1-B537B677FD91}" dt="2025-11-10T08:12:20.031" v="540" actId="20577"/>
        <pc:sldMkLst>
          <pc:docMk/>
          <pc:sldMk cId="1690138598" sldId="298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7:59:51.248" v="326" actId="20577"/>
          <ac:spMkLst>
            <pc:docMk/>
            <pc:sldMk cId="1690138598" sldId="298"/>
            <ac:spMk id="2" creationId="{3487D86B-7098-F7EF-14C6-D6F850B0D8A3}"/>
          </ac:spMkLst>
        </pc:spChg>
        <pc:spChg chg="mod">
          <ac:chgData name="MIGUEL TRIGUEROS MUÑOZ" userId="S::miguel.trigueros@aulaxxi.murciaeduca.es::a4ee0321-97d7-430f-98a8-7ed13ff9a4bf" providerId="AD" clId="Web-{705F8732-02CE-7356-7CA1-B537B677FD91}" dt="2025-11-10T08:12:20.031" v="540" actId="20577"/>
          <ac:spMkLst>
            <pc:docMk/>
            <pc:sldMk cId="1690138598" sldId="298"/>
            <ac:spMk id="3" creationId="{0ED69EED-9A3E-7AB0-E501-CEDE318F60E9}"/>
          </ac:spMkLst>
        </pc:spChg>
      </pc:sldChg>
      <pc:sldChg chg="modSp">
        <pc:chgData name="MIGUEL TRIGUEROS MUÑOZ" userId="S::miguel.trigueros@aulaxxi.murciaeduca.es::a4ee0321-97d7-430f-98a8-7ed13ff9a4bf" providerId="AD" clId="Web-{705F8732-02CE-7356-7CA1-B537B677FD91}" dt="2025-11-10T07:54:00.292" v="310" actId="1076"/>
        <pc:sldMkLst>
          <pc:docMk/>
          <pc:sldMk cId="699282513" sldId="299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7:54:00.292" v="310" actId="1076"/>
          <ac:spMkLst>
            <pc:docMk/>
            <pc:sldMk cId="699282513" sldId="299"/>
            <ac:spMk id="9" creationId="{ED3DC143-508E-B158-D9B6-F9C3C50CAA5E}"/>
          </ac:spMkLst>
        </pc:spChg>
      </pc:sldChg>
      <pc:sldChg chg="modSp ord">
        <pc:chgData name="MIGUEL TRIGUEROS MUÑOZ" userId="S::miguel.trigueros@aulaxxi.murciaeduca.es::a4ee0321-97d7-430f-98a8-7ed13ff9a4bf" providerId="AD" clId="Web-{705F8732-02CE-7356-7CA1-B537B677FD91}" dt="2025-11-10T08:06:21.229" v="437" actId="20577"/>
        <pc:sldMkLst>
          <pc:docMk/>
          <pc:sldMk cId="607628447" sldId="302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8:06:21.229" v="437" actId="20577"/>
          <ac:spMkLst>
            <pc:docMk/>
            <pc:sldMk cId="607628447" sldId="302"/>
            <ac:spMk id="3" creationId="{0734A209-61D6-BA7F-B22A-14D774E51713}"/>
          </ac:spMkLst>
        </pc:spChg>
        <pc:picChg chg="mod">
          <ac:chgData name="MIGUEL TRIGUEROS MUÑOZ" userId="S::miguel.trigueros@aulaxxi.murciaeduca.es::a4ee0321-97d7-430f-98a8-7ed13ff9a4bf" providerId="AD" clId="Web-{705F8732-02CE-7356-7CA1-B537B677FD91}" dt="2025-11-10T08:05:21.493" v="368" actId="14100"/>
          <ac:picMkLst>
            <pc:docMk/>
            <pc:sldMk cId="607628447" sldId="302"/>
            <ac:picMk id="5" creationId="{B50213F4-1D61-13EB-3411-ADF769D4E7DB}"/>
          </ac:picMkLst>
        </pc:picChg>
      </pc:sldChg>
      <pc:sldChg chg="modSp">
        <pc:chgData name="MIGUEL TRIGUEROS MUÑOZ" userId="S::miguel.trigueros@aulaxxi.murciaeduca.es::a4ee0321-97d7-430f-98a8-7ed13ff9a4bf" providerId="AD" clId="Web-{705F8732-02CE-7356-7CA1-B537B677FD91}" dt="2025-11-10T08:09:17.591" v="491" actId="14100"/>
        <pc:sldMkLst>
          <pc:docMk/>
          <pc:sldMk cId="608267034" sldId="307"/>
        </pc:sldMkLst>
        <pc:picChg chg="mod">
          <ac:chgData name="MIGUEL TRIGUEROS MUÑOZ" userId="S::miguel.trigueros@aulaxxi.murciaeduca.es::a4ee0321-97d7-430f-98a8-7ed13ff9a4bf" providerId="AD" clId="Web-{705F8732-02CE-7356-7CA1-B537B677FD91}" dt="2025-11-10T08:09:17.591" v="491" actId="14100"/>
          <ac:picMkLst>
            <pc:docMk/>
            <pc:sldMk cId="608267034" sldId="307"/>
            <ac:picMk id="5" creationId="{35BC76C4-30E8-8A99-7668-DCA636742FB0}"/>
          </ac:picMkLst>
        </pc:picChg>
      </pc:sldChg>
      <pc:sldChg chg="modSp">
        <pc:chgData name="MIGUEL TRIGUEROS MUÑOZ" userId="S::miguel.trigueros@aulaxxi.murciaeduca.es::a4ee0321-97d7-430f-98a8-7ed13ff9a4bf" providerId="AD" clId="Web-{705F8732-02CE-7356-7CA1-B537B677FD91}" dt="2025-11-10T08:09:28.966" v="492" actId="1076"/>
        <pc:sldMkLst>
          <pc:docMk/>
          <pc:sldMk cId="2230674940" sldId="308"/>
        </pc:sldMkLst>
        <pc:picChg chg="mod">
          <ac:chgData name="MIGUEL TRIGUEROS MUÑOZ" userId="S::miguel.trigueros@aulaxxi.murciaeduca.es::a4ee0321-97d7-430f-98a8-7ed13ff9a4bf" providerId="AD" clId="Web-{705F8732-02CE-7356-7CA1-B537B677FD91}" dt="2025-11-10T08:09:28.966" v="492" actId="1076"/>
          <ac:picMkLst>
            <pc:docMk/>
            <pc:sldMk cId="2230674940" sldId="308"/>
            <ac:picMk id="7" creationId="{BFF4DC16-5434-C0C4-59E2-348F6A334559}"/>
          </ac:picMkLst>
        </pc:picChg>
      </pc:sldChg>
      <pc:sldChg chg="modSp">
        <pc:chgData name="MIGUEL TRIGUEROS MUÑOZ" userId="S::miguel.trigueros@aulaxxi.murciaeduca.es::a4ee0321-97d7-430f-98a8-7ed13ff9a4bf" providerId="AD" clId="Web-{705F8732-02CE-7356-7CA1-B537B677FD91}" dt="2025-11-10T07:57:26.832" v="322" actId="20577"/>
        <pc:sldMkLst>
          <pc:docMk/>
          <pc:sldMk cId="384283461" sldId="311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7:57:26.832" v="322" actId="20577"/>
          <ac:spMkLst>
            <pc:docMk/>
            <pc:sldMk cId="384283461" sldId="311"/>
            <ac:spMk id="2" creationId="{EFDC915E-1A5A-BF1A-7F34-43683338C5B5}"/>
          </ac:spMkLst>
        </pc:spChg>
      </pc:sldChg>
      <pc:sldChg chg="modSp">
        <pc:chgData name="MIGUEL TRIGUEROS MUÑOZ" userId="S::miguel.trigueros@aulaxxi.murciaeduca.es::a4ee0321-97d7-430f-98a8-7ed13ff9a4bf" providerId="AD" clId="Web-{705F8732-02CE-7356-7CA1-B537B677FD91}" dt="2025-11-10T07:57:35.989" v="323" actId="20577"/>
        <pc:sldMkLst>
          <pc:docMk/>
          <pc:sldMk cId="3797231374" sldId="312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7:57:35.989" v="323" actId="20577"/>
          <ac:spMkLst>
            <pc:docMk/>
            <pc:sldMk cId="3797231374" sldId="312"/>
            <ac:spMk id="2" creationId="{EFDC915E-1A5A-BF1A-7F34-43683338C5B5}"/>
          </ac:spMkLst>
        </pc:spChg>
      </pc:sldChg>
      <pc:sldChg chg="addSp modSp modNotes">
        <pc:chgData name="MIGUEL TRIGUEROS MUÑOZ" userId="S::miguel.trigueros@aulaxxi.murciaeduca.es::a4ee0321-97d7-430f-98a8-7ed13ff9a4bf" providerId="AD" clId="Web-{705F8732-02CE-7356-7CA1-B537B677FD91}" dt="2025-11-10T08:40:30.306" v="757"/>
        <pc:sldMkLst>
          <pc:docMk/>
          <pc:sldMk cId="774195443" sldId="313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8:24:13.966" v="667" actId="14100"/>
          <ac:spMkLst>
            <pc:docMk/>
            <pc:sldMk cId="774195443" sldId="313"/>
            <ac:spMk id="4" creationId="{FAF7ADF2-B040-3669-33C7-67C74BD27EDB}"/>
          </ac:spMkLst>
        </pc:spChg>
        <pc:picChg chg="add mod">
          <ac:chgData name="MIGUEL TRIGUEROS MUÑOZ" userId="S::miguel.trigueros@aulaxxi.murciaeduca.es::a4ee0321-97d7-430f-98a8-7ed13ff9a4bf" providerId="AD" clId="Web-{705F8732-02CE-7356-7CA1-B537B677FD91}" dt="2025-11-10T08:26:00.064" v="672" actId="1076"/>
          <ac:picMkLst>
            <pc:docMk/>
            <pc:sldMk cId="774195443" sldId="313"/>
            <ac:picMk id="3" creationId="{8C82F25A-1AA4-5B59-16CC-A2B6223B5553}"/>
          </ac:picMkLst>
        </pc:picChg>
      </pc:sldChg>
      <pc:sldChg chg="modSp add replId">
        <pc:chgData name="MIGUEL TRIGUEROS MUÑOZ" userId="S::miguel.trigueros@aulaxxi.murciaeduca.es::a4ee0321-97d7-430f-98a8-7ed13ff9a4bf" providerId="AD" clId="Web-{705F8732-02CE-7356-7CA1-B537B677FD91}" dt="2025-11-10T07:53:39.932" v="309" actId="1076"/>
        <pc:sldMkLst>
          <pc:docMk/>
          <pc:sldMk cId="1295034901" sldId="314"/>
        </pc:sldMkLst>
        <pc:spChg chg="mod">
          <ac:chgData name="MIGUEL TRIGUEROS MUÑOZ" userId="S::miguel.trigueros@aulaxxi.murciaeduca.es::a4ee0321-97d7-430f-98a8-7ed13ff9a4bf" providerId="AD" clId="Web-{705F8732-02CE-7356-7CA1-B537B677FD91}" dt="2025-11-10T07:53:39.932" v="309" actId="1076"/>
          <ac:spMkLst>
            <pc:docMk/>
            <pc:sldMk cId="1295034901" sldId="314"/>
            <ac:spMk id="3" creationId="{CCDF5850-FC1F-C5E6-1C76-AE455FF96EC0}"/>
          </ac:spMkLst>
        </pc:spChg>
        <pc:picChg chg="mod">
          <ac:chgData name="MIGUEL TRIGUEROS MUÑOZ" userId="S::miguel.trigueros@aulaxxi.murciaeduca.es::a4ee0321-97d7-430f-98a8-7ed13ff9a4bf" providerId="AD" clId="Web-{705F8732-02CE-7356-7CA1-B537B677FD91}" dt="2025-11-10T07:48:59.412" v="68" actId="1076"/>
          <ac:picMkLst>
            <pc:docMk/>
            <pc:sldMk cId="1295034901" sldId="314"/>
            <ac:picMk id="5" creationId="{DC78D704-F4CF-9B64-4C03-C0B4F0CB3480}"/>
          </ac:picMkLst>
        </pc:picChg>
      </pc:sldChg>
      <pc:sldChg chg="addSp delSp add replId">
        <pc:chgData name="MIGUEL TRIGUEROS MUÑOZ" userId="S::miguel.trigueros@aulaxxi.murciaeduca.es::a4ee0321-97d7-430f-98a8-7ed13ff9a4bf" providerId="AD" clId="Web-{705F8732-02CE-7356-7CA1-B537B677FD91}" dt="2025-11-10T08:02:45.723" v="331"/>
        <pc:sldMkLst>
          <pc:docMk/>
          <pc:sldMk cId="2823607496" sldId="315"/>
        </pc:sldMkLst>
        <pc:spChg chg="add del">
          <ac:chgData name="MIGUEL TRIGUEROS MUÑOZ" userId="S::miguel.trigueros@aulaxxi.murciaeduca.es::a4ee0321-97d7-430f-98a8-7ed13ff9a4bf" providerId="AD" clId="Web-{705F8732-02CE-7356-7CA1-B537B677FD91}" dt="2025-11-10T08:02:45.254" v="330"/>
          <ac:spMkLst>
            <pc:docMk/>
            <pc:sldMk cId="2823607496" sldId="315"/>
            <ac:spMk id="10" creationId="{981CEF05-C5FE-AEA1-8CCD-E0BA108842C0}"/>
          </ac:spMkLst>
        </pc:spChg>
        <pc:cxnChg chg="add del">
          <ac:chgData name="MIGUEL TRIGUEROS MUÑOZ" userId="S::miguel.trigueros@aulaxxi.murciaeduca.es::a4ee0321-97d7-430f-98a8-7ed13ff9a4bf" providerId="AD" clId="Web-{705F8732-02CE-7356-7CA1-B537B677FD91}" dt="2025-11-10T08:02:45.723" v="331"/>
          <ac:cxnSpMkLst>
            <pc:docMk/>
            <pc:sldMk cId="2823607496" sldId="315"/>
            <ac:cxnSpMk id="6" creationId="{CAA66A0F-5EF6-1002-06EE-7396DCCF394F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9T16:32:22.8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22172 16034 16383 0 0,'4'4'0'0'0,"5"1"0"0"0,5-4 0 0 0,8-2 0 0 0,5-1 0 0 0,0-1 0 0 0,5 1 0 0 0,0 1 0 0 0,-1 0 0 0 0,2 1 0 0 0,-1-1 0 0 0,-2 1 0 0 0,-2 4 0 0 0,-2 2 0 0 0,-1-1 0 0 0,-1-1 0 0 0,-1-1 0 0 0,4-2 0 0 0,0 0 0 0 0,1 0 0 0 0,-1-1 0 0 0,-1 0 0 0 0,-2-1 0 0 0,0 1 0 0 0,0 0 0 0 0,-1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9T16:32:22.8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23310 16599 16383 0 0,'8'0'0'0'0,"6"0"0"0"0,5 0 0 0 0,3 0 0 0 0,6-8 0 0 0,14-6 0 0 0,3-1 0 0 0,-2 2 0 0 0,-4 3 0 0 0,-5 3 0 0 0,0 4 0 0 0,-2 1 0 0 0,-3 2 0 0 0,-2 0 0 0 0,6 1 0 0 0,1-1 0 0 0,-1 1 0 0 0,2-1 0 0 0,-1 1 0 0 0,-3-1 0 0 0,1 0 0 0 0,0 0 0 0 0,2 0 0 0 0,2-4 0 0 0,0-1 0 0 0,-2 0 0 0 0,-4 1 0 0 0,-2 1 0 0 0,-3 1 0 0 0,-1 1 0 0 0,7 1 0 0 0,6-4 0 0 0,5-1 0 0 0,-1 0 0 0 0,-4 1 0 0 0,-4 1 0 0 0,-7 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9T16:32:22.8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23283 17171 16383 0 0,'4'-4'0'0'0,"5"-5"0"0"0,6-2 0 0 0,3 2 0 0 0,7-1 0 0 0,7 0 0 0 0,1 2 0 0 0,12-1 0 0 0,2 0 0 0 0,0 3 0 0 0,-3 1 0 0 0,-6 2 0 0 0,-5 2 0 0 0,4 1 0 0 0,-1 0 0 0 0,5 0 0 0 0,0 0 0 0 0,-3 1 0 0 0,-4-1 0 0 0,3 0 0 0 0,5-7 0 0 0,1-4 0 0 0,-1 1 0 0 0,-5 2 0 0 0,0 2 0 0 0,-3 3 0 0 0,-3 1 0 0 0,0 1 0 0 0,0 1 0 0 0,-2 1 0 0 0,-1-1 0 0 0,1-4 0 0 0,0-4 0 0 0,0-2 0 0 0,2 1 0 0 0,0 2 0 0 0,-2 3 0 0 0,7 1 0 0 0,0 1 0 0 0,-1 10 0 0 0,-3 6 0 0 0,-7 2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7AFC7-0D80-49A9-8E3A-7B41D87F222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AB502-2EF8-4A12-8819-B8E82C917D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02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vYoOCzJwMc?si=7UzXROLaLMJQjmgX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v&#237;https:/www.youtube.com/watch?v=_e0ddNlc0Y8&amp;t=5s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i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77F31-F349-49A5-BD53-76AFCCB0384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24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Activar</a:t>
            </a:r>
            <a:r>
              <a:rPr lang="es-ES" baseline="0" dirty="0"/>
              <a:t> significa cambiar el nombre NO estilos-chillones.css por estilos-chillones.css</a:t>
            </a:r>
          </a:p>
          <a:p>
            <a:r>
              <a:rPr lang="es-ES" baseline="0" dirty="0"/>
              <a:t>Y abrir cada una de las páginas de ejemplo en el navegador.</a:t>
            </a:r>
          </a:p>
          <a:p>
            <a:r>
              <a:rPr lang="es-ES" baseline="0" dirty="0"/>
              <a:t>Al cambiar el nombre el enlace entre el </a:t>
            </a:r>
            <a:r>
              <a:rPr lang="es-ES" baseline="0" dirty="0" err="1"/>
              <a:t>html</a:t>
            </a:r>
            <a:r>
              <a:rPr lang="es-ES" baseline="0" dirty="0"/>
              <a:t> y el </a:t>
            </a:r>
            <a:r>
              <a:rPr lang="es-ES" baseline="0" dirty="0" err="1"/>
              <a:t>css</a:t>
            </a:r>
            <a:r>
              <a:rPr lang="es-ES" baseline="0" dirty="0"/>
              <a:t> se activa o desactiva, por lo que se aplica o deja de aplicarse los estilos creados.</a:t>
            </a:r>
          </a:p>
          <a:p>
            <a:r>
              <a:rPr lang="es-ES"/>
              <a:t>Vídeo bases CSS: </a:t>
            </a:r>
            <a:r>
              <a:rPr lang="es-ES">
                <a:hlinkClick r:id="rId3"/>
              </a:rPr>
              <a:t>https://youtu.be/kvYoOCzJwMc?si=7UzXROLaLMJQjmgX</a:t>
            </a:r>
            <a:r>
              <a:rPr lang="es-ES"/>
              <a:t>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AB502-2EF8-4A12-8819-B8E82C917D94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66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Al </a:t>
            </a:r>
            <a:r>
              <a:rPr lang="en-US" dirty="0" err="1">
                <a:latin typeface="Calibri"/>
                <a:ea typeface="Calibri"/>
                <a:cs typeface="Calibri"/>
              </a:rPr>
              <a:t>explicar</a:t>
            </a:r>
            <a:r>
              <a:rPr lang="en-US" dirty="0">
                <a:latin typeface="Calibri"/>
                <a:ea typeface="Calibri"/>
                <a:cs typeface="Calibri"/>
              </a:rPr>
              <a:t> relative, </a:t>
            </a:r>
            <a:r>
              <a:rPr lang="en-US" dirty="0" err="1">
                <a:latin typeface="Calibri"/>
                <a:ea typeface="Calibri"/>
                <a:cs typeface="Calibri"/>
              </a:rPr>
              <a:t>como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ya</a:t>
            </a:r>
            <a:r>
              <a:rPr lang="en-US" dirty="0">
                <a:latin typeface="Calibri"/>
                <a:ea typeface="Calibri"/>
                <a:cs typeface="Calibri"/>
              </a:rPr>
              <a:t> se </a:t>
            </a:r>
            <a:r>
              <a:rPr lang="en-US" dirty="0" err="1">
                <a:latin typeface="Calibri"/>
                <a:ea typeface="Calibri"/>
                <a:cs typeface="Calibri"/>
              </a:rPr>
              <a:t>aplican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los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cambios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en</a:t>
            </a:r>
            <a:r>
              <a:rPr lang="en-US" dirty="0">
                <a:latin typeface="Calibri"/>
                <a:ea typeface="Calibri"/>
                <a:cs typeface="Calibri"/>
              </a:rPr>
              <a:t> las </a:t>
            </a:r>
            <a:r>
              <a:rPr lang="en-US" dirty="0" err="1">
                <a:latin typeface="Calibri"/>
                <a:ea typeface="Calibri"/>
                <a:cs typeface="Calibri"/>
              </a:rPr>
              <a:t>propiedades</a:t>
            </a:r>
            <a:r>
              <a:rPr lang="en-US" dirty="0">
                <a:latin typeface="Calibri"/>
                <a:ea typeface="Calibri"/>
                <a:cs typeface="Calibri"/>
              </a:rPr>
              <a:t> top, left,… es un </a:t>
            </a:r>
            <a:r>
              <a:rPr lang="en-US" dirty="0" err="1">
                <a:latin typeface="Calibri"/>
                <a:ea typeface="Calibri"/>
                <a:cs typeface="Calibri"/>
              </a:rPr>
              <a:t>buen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momento</a:t>
            </a:r>
            <a:r>
              <a:rPr lang="en-US" dirty="0">
                <a:latin typeface="Calibri"/>
                <a:ea typeface="Calibri"/>
                <a:cs typeface="Calibri"/>
              </a:rPr>
              <a:t> para </a:t>
            </a:r>
            <a:r>
              <a:rPr lang="en-US" dirty="0" err="1">
                <a:latin typeface="Calibri"/>
                <a:ea typeface="Calibri"/>
                <a:cs typeface="Calibri"/>
              </a:rPr>
              <a:t>demostrar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desde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dónde</a:t>
            </a:r>
            <a:r>
              <a:rPr lang="en-US" dirty="0">
                <a:latin typeface="Calibri"/>
                <a:ea typeface="Calibri"/>
                <a:cs typeface="Calibri"/>
              </a:rPr>
              <a:t> se </a:t>
            </a:r>
            <a:r>
              <a:rPr lang="en-US" dirty="0" err="1">
                <a:latin typeface="Calibri"/>
                <a:ea typeface="Calibri"/>
                <a:cs typeface="Calibri"/>
              </a:rPr>
              <a:t>cuenta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Z-index </a:t>
            </a:r>
            <a:r>
              <a:rPr lang="en-US" dirty="0" err="1">
                <a:latin typeface="Calibri"/>
                <a:ea typeface="Calibri"/>
                <a:cs typeface="Calibri"/>
              </a:rPr>
              <a:t>negativo</a:t>
            </a:r>
            <a:r>
              <a:rPr lang="en-US" dirty="0">
                <a:latin typeface="Calibri"/>
                <a:ea typeface="Calibri"/>
                <a:cs typeface="Calibri"/>
              </a:rPr>
              <a:t> para </a:t>
            </a:r>
            <a:r>
              <a:rPr lang="en-US" dirty="0" err="1">
                <a:latin typeface="Calibri"/>
                <a:ea typeface="Calibri"/>
                <a:cs typeface="Calibri"/>
              </a:rPr>
              <a:t>poner</a:t>
            </a:r>
            <a:r>
              <a:rPr lang="en-US" dirty="0">
                <a:latin typeface="Calibri"/>
                <a:ea typeface="Calibri"/>
                <a:cs typeface="Calibri"/>
              </a:rPr>
              <a:t> un </a:t>
            </a:r>
            <a:r>
              <a:rPr lang="en-US" dirty="0" err="1">
                <a:latin typeface="Calibri"/>
                <a:ea typeface="Calibri"/>
                <a:cs typeface="Calibri"/>
              </a:rPr>
              <a:t>elmento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debajo</a:t>
            </a:r>
            <a:r>
              <a:rPr lang="en-US" dirty="0">
                <a:latin typeface="Calibri"/>
                <a:ea typeface="Calibri"/>
                <a:cs typeface="Calibri"/>
              </a:rPr>
              <a:t> de </a:t>
            </a:r>
            <a:r>
              <a:rPr lang="en-US" dirty="0" err="1">
                <a:latin typeface="Calibri"/>
                <a:ea typeface="Calibri"/>
                <a:cs typeface="Calibri"/>
              </a:rPr>
              <a:t>su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contenedor</a:t>
            </a:r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Vídeo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muy</a:t>
            </a:r>
            <a:r>
              <a:rPr lang="en-US" dirty="0">
                <a:latin typeface="Calibri"/>
                <a:ea typeface="Calibri"/>
                <a:cs typeface="Calibri"/>
              </a:rPr>
              <a:t> bueno con 6 </a:t>
            </a:r>
            <a:r>
              <a:rPr lang="en-US" dirty="0" err="1">
                <a:latin typeface="Calibri"/>
                <a:ea typeface="Calibri"/>
                <a:cs typeface="Calibri"/>
              </a:rPr>
              <a:t>cajas</a:t>
            </a:r>
            <a:r>
              <a:rPr lang="en-US" dirty="0">
                <a:latin typeface="Calibri"/>
                <a:ea typeface="Calibri"/>
                <a:cs typeface="Calibri"/>
              </a:rPr>
              <a:t>:</a:t>
            </a:r>
          </a:p>
          <a:p>
            <a:r>
              <a:rPr lang="en-US" dirty="0">
                <a:hlinkClick r:id="rId3"/>
              </a:rPr>
              <a:t>https://www.youtube.com/watch?v=_e0ddNlc0Y8&amp;t=5s</a:t>
            </a:r>
            <a:r>
              <a:rPr lang="en-US" dirty="0"/>
              <a:t>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AB502-2EF8-4A12-8819-B8E82C917D94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433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</a:t>
            </a:r>
            <a:r>
              <a:rPr lang="es-ES" baseline="0" dirty="0"/>
              <a:t> primer lugar, se define el número de filas y columnas del </a:t>
            </a:r>
            <a:r>
              <a:rPr lang="es-ES" baseline="0" dirty="0" err="1"/>
              <a:t>grid</a:t>
            </a:r>
            <a:endParaRPr lang="es-ES" baseline="0" dirty="0"/>
          </a:p>
          <a:p>
            <a:r>
              <a:rPr lang="es-ES" baseline="0" dirty="0"/>
              <a:t>Luego se determina cómo cada elemento ocupa una o varias celdas adyacentes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AB502-2EF8-4A12-8819-B8E82C917D94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421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I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35"/>
            <a:ext cx="8044873" cy="482572"/>
          </a:xfrm>
          <a:solidFill>
            <a:srgbClr val="7BD2F0"/>
          </a:solidFill>
          <a:ln>
            <a:solidFill>
              <a:srgbClr val="7BD2F0"/>
            </a:solidFill>
          </a:ln>
        </p:spPr>
        <p:txBody>
          <a:bodyPr>
            <a:noAutofit/>
          </a:bodyPr>
          <a:lstStyle>
            <a:lvl1pPr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641410"/>
            <a:ext cx="8709891" cy="441088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9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35"/>
            <a:ext cx="8044873" cy="482572"/>
          </a:xfrm>
          <a:solidFill>
            <a:srgbClr val="7BD2F0"/>
          </a:solidFill>
          <a:ln>
            <a:solidFill>
              <a:srgbClr val="7BD2F0"/>
            </a:solidFill>
          </a:ln>
        </p:spPr>
        <p:txBody>
          <a:bodyPr>
            <a:noAutofit/>
          </a:bodyPr>
          <a:lstStyle>
            <a:lvl1pPr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A95C635-8248-B3CC-905B-BE0FAB0F7C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73337"/>
            <a:ext cx="7884535" cy="375337"/>
          </a:xfrm>
          <a:solidFill>
            <a:srgbClr val="7BD2F0"/>
          </a:solidFill>
        </p:spPr>
        <p:txBody>
          <a:bodyPr lIns="360000" t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AFA1F1C-C097-B171-777A-C35A5C3D3F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3633" y="858281"/>
            <a:ext cx="7102230" cy="530066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787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485"/>
            <a:ext cx="7527636" cy="649357"/>
          </a:xfrm>
          <a:solidFill>
            <a:srgbClr val="7BD2F0"/>
          </a:solidFill>
        </p:spPr>
        <p:txBody>
          <a:bodyPr>
            <a:noAutofit/>
          </a:bodyPr>
          <a:lstStyle>
            <a:lvl1pPr>
              <a:defRPr sz="2400">
                <a:solidFill>
                  <a:srgbClr val="FF0000"/>
                </a:solidFill>
              </a:defRPr>
            </a:lvl1pPr>
          </a:lstStyle>
          <a:p>
            <a:r>
              <a:rPr lang="es-ES" dirty="0"/>
              <a:t>Tarea 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697313"/>
            <a:ext cx="7527635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2B54D429-1225-48D9-B97D-F52E941F546D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3012" y="6458616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/>
          <a:lstStyle/>
          <a:p>
            <a:fld id="{876655E2-894F-4996-AD39-D90C7033E832}" type="slidenum">
              <a:rPr lang="es-ES" smtClean="0"/>
              <a:t>‹Nº›</a:t>
            </a:fld>
            <a:endParaRPr lang="es-ES"/>
          </a:p>
        </p:txBody>
      </p:sp>
      <p:pic>
        <p:nvPicPr>
          <p:cNvPr id="8" name="Gráfico 7" descr="Bandeja de entrada marcada contorno">
            <a:extLst>
              <a:ext uri="{FF2B5EF4-FFF2-40B4-BE49-F238E27FC236}">
                <a16:creationId xmlns:a16="http://schemas.microsoft.com/office/drawing/2014/main" id="{D122D42E-E202-90BB-6C4D-95BF9112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5098" y="-113819"/>
            <a:ext cx="1149927" cy="114992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B43C5A6-F117-F258-2B47-FFDB61381B93}"/>
              </a:ext>
            </a:extLst>
          </p:cNvPr>
          <p:cNvSpPr txBox="1"/>
          <p:nvPr/>
        </p:nvSpPr>
        <p:spPr>
          <a:xfrm>
            <a:off x="8449170" y="851442"/>
            <a:ext cx="775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tarea</a:t>
            </a:r>
          </a:p>
        </p:txBody>
      </p:sp>
    </p:spTree>
    <p:extLst>
      <p:ext uri="{BB962C8B-B14F-4D97-AF65-F5344CB8AC3E}">
        <p14:creationId xmlns:p14="http://schemas.microsoft.com/office/powerpoint/2010/main" val="306610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7860145" cy="609600"/>
          </a:xfrm>
          <a:solidFill>
            <a:srgbClr val="7BD2F0"/>
          </a:solidFill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436" y="643829"/>
            <a:ext cx="4359564" cy="539753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2033" y="643827"/>
            <a:ext cx="3596111" cy="53975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75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00868"/>
            <a:ext cx="9144000" cy="1826581"/>
          </a:xfrm>
          <a:solidFill>
            <a:srgbClr val="286B9D"/>
          </a:solidFill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4527448"/>
            <a:ext cx="7878618" cy="860400"/>
          </a:xfrm>
          <a:solidFill>
            <a:srgbClr val="8FDAF4"/>
          </a:solidFill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5462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49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846" y="1405216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18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CA0D6E67-FD5F-B030-1669-90174FA0A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9075" y="6466180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F09A2BC-7032-E5B0-5833-2D66AA12FCC0}"/>
              </a:ext>
            </a:extLst>
          </p:cNvPr>
          <p:cNvSpPr txBox="1"/>
          <p:nvPr/>
        </p:nvSpPr>
        <p:spPr>
          <a:xfrm>
            <a:off x="398015" y="6635417"/>
            <a:ext cx="34565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accent2">
                    <a:lumMod val="75000"/>
                  </a:schemeClr>
                </a:solidFill>
              </a:rPr>
              <a:t>UT3 CSS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7914AF6-1478-EDDB-811E-B6180E752D22}"/>
              </a:ext>
            </a:extLst>
          </p:cNvPr>
          <p:cNvSpPr txBox="1"/>
          <p:nvPr/>
        </p:nvSpPr>
        <p:spPr>
          <a:xfrm>
            <a:off x="8013568" y="6242269"/>
            <a:ext cx="529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59FCB17-F709-4F04-B64B-5E26FED537C9}" type="slidenum">
              <a:rPr lang="es-ES" sz="800" smtClean="0">
                <a:solidFill>
                  <a:schemeClr val="accent2"/>
                </a:solidFill>
              </a:rPr>
              <a:t>‹Nº›</a:t>
            </a:fld>
            <a:endParaRPr lang="es-ES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15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None/>
        <a:defRPr sz="1600" kern="1200">
          <a:solidFill>
            <a:srgbClr val="ECA924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None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None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None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onicaruiz.es/claves-para-elegir-tu-agencia-de-diseno-web-en-barcelona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ircoraluy.com/espectaculo/nuevo-numero-circo-raluy/" TargetMode="External"/><Relationship Id="rId5" Type="http://schemas.openxmlformats.org/officeDocument/2006/relationships/image" Target="../media/image6.jpeg"/><Relationship Id="rId4" Type="http://schemas.openxmlformats.org/officeDocument/2006/relationships/hyperlink" Target="https://coderdojo-nijmegen.nl/instructies/web-development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www.w3schools.com/cssref" TargetMode="External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s/docs/Web/CSS/Referenc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w3schools.com/css/css_important.asp#:~:text=.button%20%7B%0A%C2%A0%20background%2Dcolor%3A%20%238c8c8c%20!important%3B%0A%C2%A0%20color%3A%20white%20!important%3B%0A%C2%A0%20padding%3A%205px%20!important%3B%0A%C2%A0%20border%3A%201px%20solid%20black%20!important%3B%0A%7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miguitel.github.io/LM/03/LM0305_colores.html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iguitel.github.io/AWEB_disenioWeb/9%20index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combinators.asp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ulavirtual.murciaeduca.es/pluginfile.php/6352083/mod_resource/content/4/css3-cheatshee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ulavirtual.murciaeduca.es/pluginfile.php/71678/mod_resource/content/5/css3-cheatsheetv2.pdf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eliseovega.github.io/css_modelbox.html#:~:text=Relleno%20interno%20izquierdo-,T%C3%A9cnica%20del%20Reloj%20para%20Padding,-Ejemplo%20de%20la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iguitel.github.io/LM/03/07%20caja/caja.html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miguitel.github.io/AWEB_disenioWeb/menu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eliseovega.github.io/css_modelbox.html#:~:text=Relleno%20interno%20izquierdo-,T%C3%A9cnica%20del%20Reloj%20para%20Padding,-Ejemplo%20de%20la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8.png"/><Relationship Id="rId4" Type="http://schemas.openxmlformats.org/officeDocument/2006/relationships/hyperlink" Target="https://miguitel.github.io/AWEB_disenioWeb/menu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iguitel.github.io/LM/03/position/LM0307_position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miguitel.github.io/LM/03/flexbox_grid/index_flexbox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iguitel.github.io/LM/03/flexbox_grid/index_grid.html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injamock.com/" TargetMode="External"/><Relationship Id="rId2" Type="http://schemas.openxmlformats.org/officeDocument/2006/relationships/hyperlink" Target="http://www.mockflow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17BF0-3E55-B61A-0CB6-DAA1A9FFC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429" y="623943"/>
            <a:ext cx="5826719" cy="1870469"/>
          </a:xfrm>
        </p:spPr>
        <p:txBody>
          <a:bodyPr/>
          <a:lstStyle/>
          <a:p>
            <a:r>
              <a:rPr lang="es-ES" dirty="0"/>
              <a:t>UT 3 CSS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2ED25A-BE06-555F-6704-AB3B812413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31238" y="6042025"/>
            <a:ext cx="512762" cy="365125"/>
          </a:xfrm>
          <a:prstGeom prst="rect">
            <a:avLst/>
          </a:prstGeom>
        </p:spPr>
        <p:txBody>
          <a:bodyPr/>
          <a:lstStyle/>
          <a:p>
            <a:fld id="{876655E2-894F-4996-AD39-D90C7033E832}" type="slidenum">
              <a:rPr lang="es-ES" smtClean="0"/>
              <a:t>1</a:t>
            </a:fld>
            <a:endParaRPr lang="es-ES"/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1CE541D9-A698-A26B-C053-FCBE84FEA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45048" y="3429000"/>
            <a:ext cx="5182585" cy="294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9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47151-2248-A9B6-91A0-B5785A22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CONTENIDO UT2 + UT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26A147-119F-2F70-9EFF-0DA347684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HTML: Lenguaje de marcado</a:t>
            </a:r>
          </a:p>
          <a:p>
            <a:r>
              <a:rPr lang="es-ES" b="1" dirty="0"/>
              <a:t>CSS: Lenguaje para dar formato</a:t>
            </a:r>
          </a:p>
          <a:p>
            <a:pPr marL="285750" indent="-285750">
              <a:buFont typeface="Arial" charset="2"/>
              <a:buChar char="•"/>
            </a:pPr>
            <a:r>
              <a:rPr lang="es-ES" dirty="0"/>
              <a:t>Cómo aplicar estilos: creación de reglas</a:t>
            </a:r>
          </a:p>
          <a:p>
            <a:pPr marL="285750" indent="-285750">
              <a:buFont typeface="Arial" charset="2"/>
              <a:buChar char="•"/>
            </a:pPr>
            <a:r>
              <a:rPr lang="es-ES" dirty="0"/>
              <a:t>Cómo distribuir los elementos: maquetación</a:t>
            </a:r>
          </a:p>
          <a:p>
            <a:endParaRPr lang="es-ES" b="1" dirty="0"/>
          </a:p>
        </p:txBody>
      </p:sp>
      <p:pic>
        <p:nvPicPr>
          <p:cNvPr id="8" name="Imagen 7" descr="Imagen que contiene dibujo, firmar, hombre, calle&#10;&#10;Descripción generada automáticamente">
            <a:extLst>
              <a:ext uri="{FF2B5EF4-FFF2-40B4-BE49-F238E27FC236}">
                <a16:creationId xmlns:a16="http://schemas.microsoft.com/office/drawing/2014/main" id="{8870C3AC-DB83-BA5A-5F0B-59EF33F39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655750" y="3780525"/>
            <a:ext cx="4938663" cy="222239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8DD7268-FFB2-BA53-C24F-36CB78B054C1}"/>
              </a:ext>
            </a:extLst>
          </p:cNvPr>
          <p:cNvSpPr txBox="1"/>
          <p:nvPr/>
        </p:nvSpPr>
        <p:spPr>
          <a:xfrm>
            <a:off x="7085926" y="1078644"/>
            <a:ext cx="209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¿QUÉ ES?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B03621E8-9B29-BF15-2849-851447311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798888" y="1599812"/>
            <a:ext cx="1484823" cy="148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444E0-0591-D225-E3EE-CACBC61F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1 INTRODUCCIÓN CSS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A286A7-6D11-5E4F-F33F-3D584563C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296140"/>
            <a:ext cx="7735616" cy="47452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¿Cómo damos formato a la página que hemos estructurado con </a:t>
            </a:r>
            <a:r>
              <a:rPr lang="es-ES" dirty="0" err="1"/>
              <a:t>html</a:t>
            </a:r>
            <a:r>
              <a:rPr lang="es-ES" dirty="0"/>
              <a:t>?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EJEMPLO: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En la copia local del repositorio de ejemplo</a:t>
            </a:r>
          </a:p>
          <a:p>
            <a:pPr lvl="1"/>
            <a:r>
              <a:rPr lang="es-ES" dirty="0">
                <a:solidFill>
                  <a:schemeClr val="tx2"/>
                </a:solidFill>
              </a:rPr>
              <a:t>Activar </a:t>
            </a:r>
            <a:r>
              <a:rPr lang="es-ES" i="1" u="sng" dirty="0">
                <a:solidFill>
                  <a:srgbClr val="00B050"/>
                </a:solidFill>
              </a:rPr>
              <a:t>estilos-chillones.css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</a:rPr>
              <a:t>(enlazada con ejemplo 4, 5, 6, 7 y 8, modificar el nombre del archivo)</a:t>
            </a:r>
          </a:p>
          <a:p>
            <a:pPr lvl="1"/>
            <a:endParaRPr lang="es-ES" i="1" u="sng" dirty="0">
              <a:solidFill>
                <a:srgbClr val="00B050"/>
              </a:solidFill>
            </a:endParaRPr>
          </a:p>
          <a:p>
            <a:r>
              <a:rPr lang="es-ES" dirty="0"/>
              <a:t>CSS: Hojas de estilo en cascada → los estilos aplicados a un elemento contenedor se aplican a los elementos contenidos, salvo que esto tengan una regla más específica</a:t>
            </a:r>
          </a:p>
          <a:p>
            <a:pPr lvl="1"/>
            <a:r>
              <a:rPr lang="es-ES" dirty="0">
                <a:hlinkClick r:id="rId3"/>
              </a:rPr>
              <a:t>https://www.w3schools.com/css/</a:t>
            </a:r>
            <a:r>
              <a:rPr lang="es-ES" dirty="0"/>
              <a:t> </a:t>
            </a:r>
          </a:p>
          <a:p>
            <a:pPr lvl="1"/>
            <a:endParaRPr lang="es-ES_tradnl" dirty="0"/>
          </a:p>
          <a:p>
            <a:r>
              <a:rPr lang="es-ES" dirty="0">
                <a:solidFill>
                  <a:schemeClr val="tx2"/>
                </a:solidFill>
              </a:rPr>
              <a:t>La hoja se asocia al archivo </a:t>
            </a:r>
            <a:r>
              <a:rPr lang="es-ES" dirty="0" err="1">
                <a:solidFill>
                  <a:schemeClr val="tx2"/>
                </a:solidFill>
              </a:rPr>
              <a:t>html</a:t>
            </a:r>
            <a:r>
              <a:rPr lang="es-ES" dirty="0">
                <a:solidFill>
                  <a:schemeClr val="tx2"/>
                </a:solidFill>
              </a:rPr>
              <a:t> con la etiqueta link:</a:t>
            </a:r>
          </a:p>
          <a:p>
            <a:pPr lvl="1"/>
            <a:r>
              <a:rPr lang="en-US" i="1" dirty="0">
                <a:solidFill>
                  <a:srgbClr val="00B050"/>
                </a:solidFill>
              </a:rPr>
              <a:t>&lt;link </a:t>
            </a:r>
            <a:r>
              <a:rPr lang="en-US" i="1" dirty="0" err="1">
                <a:solidFill>
                  <a:srgbClr val="00B050"/>
                </a:solidFill>
              </a:rPr>
              <a:t>rel</a:t>
            </a:r>
            <a:r>
              <a:rPr lang="en-US" i="1" dirty="0">
                <a:solidFill>
                  <a:srgbClr val="00B050"/>
                </a:solidFill>
              </a:rPr>
              <a:t>=“stylesheet” type="text/</a:t>
            </a:r>
            <a:r>
              <a:rPr lang="en-US" i="1" dirty="0" err="1">
                <a:solidFill>
                  <a:srgbClr val="00B050"/>
                </a:solidFill>
              </a:rPr>
              <a:t>css</a:t>
            </a:r>
            <a:r>
              <a:rPr lang="en-US" i="1" dirty="0">
                <a:solidFill>
                  <a:srgbClr val="00B050"/>
                </a:solidFill>
              </a:rPr>
              <a:t>" </a:t>
            </a:r>
            <a:r>
              <a:rPr lang="en-US" i="1" dirty="0" err="1">
                <a:solidFill>
                  <a:srgbClr val="00B050"/>
                </a:solidFill>
              </a:rPr>
              <a:t>href</a:t>
            </a:r>
            <a:r>
              <a:rPr lang="en-US" i="1" dirty="0">
                <a:solidFill>
                  <a:srgbClr val="00B050"/>
                </a:solidFill>
              </a:rPr>
              <a:t>=/mihoja.css"&gt;</a:t>
            </a:r>
          </a:p>
        </p:txBody>
      </p:sp>
      <p:pic>
        <p:nvPicPr>
          <p:cNvPr id="5" name="Imagen 4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265E60E2-8687-1F0A-13D9-F9840B7DE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39" y="3667124"/>
            <a:ext cx="3131232" cy="27516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F3C638F-4A0B-9FF5-C6B5-98721AD91AE6}"/>
                  </a:ext>
                </a:extLst>
              </p14:cNvPr>
              <p14:cNvContentPartPr/>
              <p14:nvPr/>
            </p14:nvContentPartPr>
            <p14:xfrm>
              <a:off x="6899563" y="5203607"/>
              <a:ext cx="240424" cy="8841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F3C638F-4A0B-9FF5-C6B5-98721AD91A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45656" y="5101595"/>
                <a:ext cx="347878" cy="212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ABD8B4FD-FAB8-E6CB-B350-521F3F5B8DA4}"/>
                  </a:ext>
                </a:extLst>
              </p14:cNvPr>
              <p14:cNvContentPartPr/>
              <p14:nvPr/>
            </p14:nvContentPartPr>
            <p14:xfrm>
              <a:off x="6924501" y="5345163"/>
              <a:ext cx="422617" cy="41483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ABD8B4FD-FAB8-E6CB-B350-521F3F5B8D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70910" y="5238237"/>
                <a:ext cx="530160" cy="2556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940F610F-3395-FAFF-11AA-59B2ACF3C7CA}"/>
                  </a:ext>
                </a:extLst>
              </p14:cNvPr>
              <p14:cNvContentPartPr/>
              <p14:nvPr/>
            </p14:nvContentPartPr>
            <p14:xfrm>
              <a:off x="6916188" y="5502469"/>
              <a:ext cx="496885" cy="67057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940F610F-3395-FAFF-11AA-59B2ACF3C7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62218" y="5394891"/>
                <a:ext cx="604465" cy="2818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67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444E0-0591-D225-E3EE-CACBC61F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1 INTRODUCCIÓN CSS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EB17E03-F30C-6E88-CB1E-4F65B95BD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5961"/>
            <a:ext cx="7003228" cy="4410881"/>
          </a:xfrm>
        </p:spPr>
        <p:txBody>
          <a:bodyPr/>
          <a:lstStyle/>
          <a:p>
            <a:r>
              <a:rPr lang="es-ES" dirty="0"/>
              <a:t>VENTAJAS: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b="1" dirty="0">
                <a:solidFill>
                  <a:srgbClr val="00B050"/>
                </a:solidFill>
              </a:rPr>
              <a:t>Mantenimiento</a:t>
            </a:r>
            <a:r>
              <a:rPr lang="es-ES" b="1" dirty="0"/>
              <a:t> simplificado</a:t>
            </a:r>
            <a:r>
              <a:rPr lang="es-ES" dirty="0"/>
              <a:t>: modificar solo el archivo CSS, sin tocar el HTML.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b="1" dirty="0">
                <a:solidFill>
                  <a:srgbClr val="00B050"/>
                </a:solidFill>
              </a:rPr>
              <a:t>Reutilización</a:t>
            </a:r>
            <a:r>
              <a:rPr lang="es-ES" b="1" dirty="0"/>
              <a:t> de código</a:t>
            </a:r>
            <a:r>
              <a:rPr lang="es-ES" dirty="0"/>
              <a:t>: diseño consistente en todo el sitio.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b="1" dirty="0"/>
              <a:t>Optimización del </a:t>
            </a:r>
            <a:r>
              <a:rPr lang="es-ES" b="1" dirty="0">
                <a:solidFill>
                  <a:srgbClr val="00B050"/>
                </a:solidFill>
              </a:rPr>
              <a:t>rendimiento</a:t>
            </a:r>
            <a:r>
              <a:rPr lang="es-ES" dirty="0"/>
              <a:t>: descargan un CSS y se reutilizan en todas las páginas, reduce el tiempo de carga.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b="1" dirty="0"/>
              <a:t>Mejora de la </a:t>
            </a:r>
            <a:r>
              <a:rPr lang="es-ES" b="1" dirty="0">
                <a:solidFill>
                  <a:srgbClr val="00B050"/>
                </a:solidFill>
              </a:rPr>
              <a:t>accesibilidad</a:t>
            </a:r>
            <a:r>
              <a:rPr lang="es-ES" dirty="0"/>
              <a:t>: para dispositivos y navegadores con capacidades limitadas.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407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7FB22-1C58-38A4-17B0-624E5D29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 ESTRUCTURA Y SINTAXIS: LAS REGLAS CSS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02FA05-902D-DC4B-9357-F1DFBBF02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414" y="763545"/>
            <a:ext cx="7522347" cy="56520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UNA REGLA CSS ES:</a:t>
            </a:r>
          </a:p>
          <a:p>
            <a:r>
              <a:rPr lang="es-ES" dirty="0"/>
              <a:t>Conjunto de </a:t>
            </a:r>
            <a:r>
              <a:rPr lang="es-ES" dirty="0">
                <a:solidFill>
                  <a:srgbClr val="FF0000"/>
                </a:solidFill>
              </a:rPr>
              <a:t>selector</a:t>
            </a:r>
            <a:r>
              <a:rPr lang="es-ES" dirty="0"/>
              <a:t> más definición de estilo (propiedades con </a:t>
            </a:r>
            <a:r>
              <a:rPr lang="es-ES" dirty="0">
                <a:solidFill>
                  <a:srgbClr val="00B050"/>
                </a:solidFill>
              </a:rPr>
              <a:t>valor</a:t>
            </a:r>
            <a:r>
              <a:rPr lang="es-ES" dirty="0"/>
              <a:t>)</a:t>
            </a:r>
          </a:p>
          <a:p>
            <a:pPr marL="2868295" indent="0">
              <a:buNone/>
              <a:defRPr/>
            </a:pPr>
            <a:r>
              <a:rPr lang="es-ES_tradnl" sz="1600" dirty="0">
                <a:solidFill>
                  <a:srgbClr val="FF0000"/>
                </a:solidFill>
              </a:rPr>
              <a:t>selector</a:t>
            </a:r>
            <a:r>
              <a:rPr lang="es-ES_tradnl" sz="1600" dirty="0">
                <a:highlight>
                  <a:srgbClr val="FFFF00"/>
                </a:highlight>
              </a:rPr>
              <a:t>{</a:t>
            </a:r>
          </a:p>
          <a:p>
            <a:pPr marL="2868295" indent="0">
              <a:buNone/>
              <a:defRPr/>
            </a:pPr>
            <a:r>
              <a:rPr lang="es-ES_tradnl" sz="1600" dirty="0"/>
              <a:t>	</a:t>
            </a:r>
            <a:r>
              <a:rPr lang="es-ES_tradnl" sz="1600" dirty="0">
                <a:solidFill>
                  <a:srgbClr val="0070C0"/>
                </a:solidFill>
              </a:rPr>
              <a:t>propiedad</a:t>
            </a:r>
            <a:r>
              <a:rPr lang="es-ES_tradnl" sz="1600" dirty="0"/>
              <a:t>: </a:t>
            </a:r>
            <a:r>
              <a:rPr lang="es-ES_tradnl" sz="1600" dirty="0">
                <a:solidFill>
                  <a:srgbClr val="00B050"/>
                </a:solidFill>
              </a:rPr>
              <a:t>valor</a:t>
            </a:r>
            <a:r>
              <a:rPr lang="es-ES_tradnl" sz="1600" dirty="0">
                <a:highlight>
                  <a:srgbClr val="FFFF00"/>
                </a:highlight>
              </a:rPr>
              <a:t>;</a:t>
            </a:r>
          </a:p>
          <a:p>
            <a:pPr marL="2868295" indent="0">
              <a:buNone/>
              <a:defRPr/>
            </a:pPr>
            <a:r>
              <a:rPr lang="es-ES_tradnl" sz="1600" dirty="0"/>
              <a:t>	propiedad: </a:t>
            </a:r>
            <a:r>
              <a:rPr lang="es-ES_tradnl" sz="1600" dirty="0">
                <a:solidFill>
                  <a:srgbClr val="00B050"/>
                </a:solidFill>
              </a:rPr>
              <a:t>valor;</a:t>
            </a:r>
            <a:endParaRPr lang="es-ES_tradnl" sz="1600" dirty="0"/>
          </a:p>
          <a:p>
            <a:pPr marL="2868295" indent="0">
              <a:buNone/>
              <a:defRPr/>
            </a:pPr>
            <a:r>
              <a:rPr lang="es-ES_tradnl" sz="1600" dirty="0"/>
              <a:t>	……..</a:t>
            </a:r>
          </a:p>
          <a:p>
            <a:pPr marL="2868295" indent="0">
              <a:buNone/>
              <a:defRPr/>
            </a:pPr>
            <a:r>
              <a:rPr lang="es-ES_tradnl" sz="1600" dirty="0"/>
              <a:t>}</a:t>
            </a:r>
          </a:p>
          <a:p>
            <a:pPr marL="2868295" indent="0">
              <a:buNone/>
              <a:defRPr/>
            </a:pPr>
            <a:endParaRPr lang="es-ES_tradnl" sz="1400" dirty="0"/>
          </a:p>
          <a:p>
            <a:pPr marL="1435100" indent="0">
              <a:buNone/>
              <a:tabLst>
                <a:tab pos="1435100" algn="l"/>
              </a:tabLst>
              <a:defRPr/>
            </a:pPr>
            <a:r>
              <a:rPr lang="es-ES_tradnl" sz="1400" b="1" dirty="0"/>
              <a:t>	</a:t>
            </a:r>
            <a:r>
              <a:rPr lang="es-ES_tradnl" sz="1400" b="1" dirty="0">
                <a:solidFill>
                  <a:srgbClr val="FF0000"/>
                </a:solidFill>
              </a:rPr>
              <a:t>              </a:t>
            </a:r>
            <a:r>
              <a:rPr lang="es-ES_tradnl" sz="1400" dirty="0" err="1">
                <a:solidFill>
                  <a:srgbClr val="FF0000"/>
                </a:solidFill>
              </a:rPr>
              <a:t>p.textoespanol</a:t>
            </a:r>
            <a:r>
              <a:rPr lang="es-ES_tradnl" sz="1400" dirty="0">
                <a:solidFill>
                  <a:srgbClr val="FF0000"/>
                </a:solidFill>
              </a:rPr>
              <a:t> </a:t>
            </a:r>
            <a:r>
              <a:rPr lang="es-ES_tradnl" sz="1400" dirty="0">
                <a:solidFill>
                  <a:srgbClr val="00B050"/>
                </a:solidFill>
              </a:rPr>
              <a:t>{</a:t>
            </a:r>
          </a:p>
          <a:p>
            <a:pPr marL="2868295" indent="0">
              <a:buNone/>
              <a:tabLst>
                <a:tab pos="2868613" algn="l"/>
              </a:tabLst>
              <a:defRPr/>
            </a:pPr>
            <a:r>
              <a:rPr lang="es-ES_tradnl" sz="1400" dirty="0">
                <a:solidFill>
                  <a:srgbClr val="00B050"/>
                </a:solidFill>
              </a:rPr>
              <a:t>	</a:t>
            </a:r>
            <a:r>
              <a:rPr lang="es-ES_tradnl" sz="1400" dirty="0" err="1">
                <a:solidFill>
                  <a:srgbClr val="0070C0"/>
                </a:solidFill>
              </a:rPr>
              <a:t>text-family</a:t>
            </a:r>
            <a:r>
              <a:rPr lang="es-ES_tradnl" sz="1400" dirty="0">
                <a:solidFill>
                  <a:srgbClr val="00B050"/>
                </a:solidFill>
              </a:rPr>
              <a:t>:  </a:t>
            </a:r>
            <a:r>
              <a:rPr lang="es-ES_tradnl" sz="1400" dirty="0" err="1">
                <a:solidFill>
                  <a:srgbClr val="00B050"/>
                </a:solidFill>
              </a:rPr>
              <a:t>Verdana</a:t>
            </a:r>
            <a:r>
              <a:rPr lang="es-ES_tradnl" sz="1400" dirty="0">
                <a:solidFill>
                  <a:srgbClr val="00B050"/>
                </a:solidFill>
              </a:rPr>
              <a:t>;</a:t>
            </a:r>
          </a:p>
          <a:p>
            <a:pPr marL="2868295" indent="0">
              <a:buNone/>
              <a:tabLst>
                <a:tab pos="2868613" algn="l"/>
              </a:tabLst>
              <a:defRPr/>
            </a:pPr>
            <a:r>
              <a:rPr lang="es-ES_tradnl" sz="1400" dirty="0">
                <a:solidFill>
                  <a:srgbClr val="00B050"/>
                </a:solidFill>
              </a:rPr>
              <a:t>	</a:t>
            </a:r>
            <a:r>
              <a:rPr lang="es-ES_tradnl" sz="1400" dirty="0" err="1">
                <a:solidFill>
                  <a:schemeClr val="accent2"/>
                </a:solidFill>
              </a:rPr>
              <a:t>font-size</a:t>
            </a:r>
            <a:r>
              <a:rPr lang="es-ES_tradnl" sz="1400" dirty="0">
                <a:solidFill>
                  <a:srgbClr val="00B050"/>
                </a:solidFill>
              </a:rPr>
              <a:t>: </a:t>
            </a:r>
            <a:r>
              <a:rPr lang="es-ES_tradnl" sz="1400" dirty="0" err="1">
                <a:solidFill>
                  <a:srgbClr val="00B050"/>
                </a:solidFill>
              </a:rPr>
              <a:t>large</a:t>
            </a:r>
            <a:r>
              <a:rPr lang="es-ES_tradnl" sz="1400" dirty="0">
                <a:solidFill>
                  <a:srgbClr val="00B050"/>
                </a:solidFill>
              </a:rPr>
              <a:t>;</a:t>
            </a:r>
          </a:p>
          <a:p>
            <a:pPr marL="2868295" indent="0">
              <a:buNone/>
              <a:tabLst>
                <a:tab pos="2868613" algn="l"/>
              </a:tabLst>
              <a:defRPr/>
            </a:pPr>
            <a:r>
              <a:rPr lang="es-ES_tradnl" sz="1400" dirty="0">
                <a:solidFill>
                  <a:srgbClr val="00B050"/>
                </a:solidFill>
              </a:rPr>
              <a:t>	</a:t>
            </a:r>
            <a:r>
              <a:rPr lang="es-ES_tradnl" sz="1400" dirty="0">
                <a:solidFill>
                  <a:schemeClr val="accent2"/>
                </a:solidFill>
              </a:rPr>
              <a:t>color</a:t>
            </a:r>
            <a:r>
              <a:rPr lang="es-ES_tradnl" sz="1400" dirty="0">
                <a:solidFill>
                  <a:srgbClr val="00B050"/>
                </a:solidFill>
              </a:rPr>
              <a:t>: </a:t>
            </a:r>
            <a:r>
              <a:rPr lang="es-ES_tradnl" sz="1400" dirty="0" err="1">
                <a:solidFill>
                  <a:srgbClr val="00B050"/>
                </a:solidFill>
              </a:rPr>
              <a:t>green</a:t>
            </a:r>
            <a:r>
              <a:rPr lang="es-ES_tradnl" sz="1400" dirty="0">
                <a:solidFill>
                  <a:srgbClr val="00B050"/>
                </a:solidFill>
              </a:rPr>
              <a:t>;</a:t>
            </a:r>
          </a:p>
          <a:p>
            <a:pPr marL="2868295" indent="0">
              <a:buNone/>
              <a:tabLst>
                <a:tab pos="2868613" algn="l"/>
              </a:tabLst>
              <a:defRPr/>
            </a:pPr>
            <a:r>
              <a:rPr lang="es-ES_tradnl" sz="1400" dirty="0">
                <a:solidFill>
                  <a:srgbClr val="00B050"/>
                </a:solidFill>
              </a:rPr>
              <a:t>}</a:t>
            </a:r>
          </a:p>
          <a:p>
            <a:pPr marL="2868295" indent="0">
              <a:buNone/>
              <a:tabLst>
                <a:tab pos="2868613" algn="l"/>
              </a:tabLst>
              <a:defRPr/>
            </a:pPr>
            <a:r>
              <a:rPr lang="es-ES_tradnl" sz="1400" u="sng" dirty="0">
                <a:solidFill>
                  <a:srgbClr val="002060"/>
                </a:solidFill>
              </a:rPr>
              <a:t>Referencia </a:t>
            </a:r>
            <a:r>
              <a:rPr lang="es-ES_tradnl" sz="1400" u="sng" dirty="0" err="1">
                <a:solidFill>
                  <a:srgbClr val="002060"/>
                </a:solidFill>
              </a:rPr>
              <a:t>Css</a:t>
            </a:r>
            <a:r>
              <a:rPr lang="es-ES_tradnl" sz="1400" u="sng" dirty="0">
                <a:solidFill>
                  <a:srgbClr val="002060"/>
                </a:solidFill>
              </a:rPr>
              <a:t> Completa:</a:t>
            </a:r>
          </a:p>
          <a:p>
            <a:pPr marL="2868295" indent="0">
              <a:buNone/>
              <a:tabLst>
                <a:tab pos="2868613" algn="l"/>
              </a:tabLst>
              <a:defRPr/>
            </a:pPr>
            <a:r>
              <a:rPr lang="es-ES" sz="1400" dirty="0">
                <a:hlinkClick r:id="rId2"/>
              </a:rPr>
              <a:t>https://developer.mozilla.org/es/docs/Web/CSS/Reference</a:t>
            </a:r>
            <a:endParaRPr lang="es-ES_tradnl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95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502210B-CFCA-154D-D428-859C0B15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36" y="5000123"/>
            <a:ext cx="7282927" cy="10255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EBC120-538C-1710-F46F-E680F8353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39" y="570202"/>
            <a:ext cx="4938757" cy="12876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E0A59CA-145F-0667-C7D0-847F33742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713" y="1951309"/>
            <a:ext cx="4679576" cy="30488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B064BFE-83D2-70D1-97DF-CAD2CC2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 APLICACIÓN: EXTERNO, INTERNO, IN-LINE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9EF687-6B5F-9E04-70DB-C8431F55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41410"/>
            <a:ext cx="8709891" cy="5996058"/>
          </a:xfrm>
        </p:spPr>
        <p:txBody>
          <a:bodyPr>
            <a:normAutofit/>
          </a:bodyPr>
          <a:lstStyle/>
          <a:p>
            <a:r>
              <a:rPr lang="es-ES" dirty="0"/>
              <a:t>EXTERNA</a:t>
            </a:r>
          </a:p>
          <a:p>
            <a:pPr lvl="1"/>
            <a:r>
              <a:rPr lang="es-ES" dirty="0"/>
              <a:t>Reutilizable, mantenible, eficiente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r>
              <a:rPr lang="es-ES" dirty="0"/>
              <a:t>INTERNA</a:t>
            </a:r>
          </a:p>
          <a:p>
            <a:pPr lvl="1"/>
            <a:r>
              <a:rPr lang="es-ES" dirty="0"/>
              <a:t>Sencilla,</a:t>
            </a:r>
            <a:r>
              <a:rPr lang="es-ES" baseline="0" dirty="0"/>
              <a:t> independiente 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IN</a:t>
            </a:r>
            <a:r>
              <a:rPr lang="es-ES" baseline="0" dirty="0"/>
              <a:t>-LINE</a:t>
            </a:r>
          </a:p>
          <a:p>
            <a:pPr lvl="1"/>
            <a:r>
              <a:rPr lang="es-ES" dirty="0"/>
              <a:t>Rápida</a:t>
            </a:r>
          </a:p>
        </p:txBody>
      </p:sp>
    </p:spTree>
    <p:extLst>
      <p:ext uri="{BB962C8B-B14F-4D97-AF65-F5344CB8AC3E}">
        <p14:creationId xmlns:p14="http://schemas.microsoft.com/office/powerpoint/2010/main" val="106432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198AA-35F6-BF81-D15F-E90FB5D6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lang="es-ES" baseline="0" dirty="0"/>
              <a:t> PRIORIDADES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AC3314-171E-8774-E116-42D904C6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41410"/>
            <a:ext cx="8709891" cy="62165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CASCADA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Importancia</a:t>
            </a:r>
            <a:r>
              <a:rPr lang="es-ES" dirty="0"/>
              <a:t>: </a:t>
            </a:r>
            <a:r>
              <a:rPr lang="es-ES" dirty="0">
                <a:solidFill>
                  <a:srgbClr val="FF0000"/>
                </a:solidFill>
              </a:rPr>
              <a:t>!</a:t>
            </a:r>
            <a:r>
              <a:rPr lang="es-ES" dirty="0" err="1">
                <a:solidFill>
                  <a:srgbClr val="FF0000"/>
                </a:solidFill>
              </a:rPr>
              <a:t>important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/>
              <a:t>tienen la mayor prioridad y siempre se aplican </a:t>
            </a:r>
            <a:r>
              <a:rPr lang="es-ES" dirty="0">
                <a:solidFill>
                  <a:srgbClr val="FF0000"/>
                </a:solidFill>
              </a:rPr>
              <a:t>(¡¡se aplica a una sola </a:t>
            </a:r>
            <a:r>
              <a:rPr lang="es-ES" dirty="0">
                <a:solidFill>
                  <a:srgbClr val="FF0000"/>
                </a:solidFill>
                <a:hlinkClick r:id="rId2"/>
              </a:rPr>
              <a:t>propiedad</a:t>
            </a:r>
            <a:r>
              <a:rPr lang="es-ES" dirty="0">
                <a:solidFill>
                  <a:srgbClr val="FF0000"/>
                </a:solidFill>
              </a:rPr>
              <a:t>!!)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Especificidad</a:t>
            </a:r>
            <a:r>
              <a:rPr lang="es-ES" dirty="0"/>
              <a:t>: SI = importancia, se evalúa su especificidad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Orden</a:t>
            </a:r>
            <a:r>
              <a:rPr lang="es-ES" b="1" dirty="0"/>
              <a:t>: SI = </a:t>
            </a:r>
            <a:r>
              <a:rPr lang="es-ES" dirty="0"/>
              <a:t>especificidad, se aplicará la última regla definida en el archivo CSS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ESPECIFICIDAD (de mayor</a:t>
            </a:r>
            <a:r>
              <a:rPr lang="es-ES" baseline="0" dirty="0"/>
              <a:t> a menor)</a:t>
            </a:r>
            <a:endParaRPr lang="es-ES" dirty="0"/>
          </a:p>
          <a:p>
            <a:pPr lvl="1"/>
            <a:r>
              <a:rPr lang="es-ES" b="1" dirty="0"/>
              <a:t>Selectores </a:t>
            </a:r>
            <a:r>
              <a:rPr lang="es-ES" b="1" dirty="0" err="1">
                <a:solidFill>
                  <a:srgbClr val="00B050"/>
                </a:solidFill>
              </a:rPr>
              <a:t>inline</a:t>
            </a:r>
            <a:r>
              <a:rPr lang="es-ES" dirty="0"/>
              <a:t> (atributo </a:t>
            </a:r>
            <a:r>
              <a:rPr lang="es-ES" dirty="0" err="1"/>
              <a:t>style</a:t>
            </a:r>
            <a:r>
              <a:rPr lang="es-ES" dirty="0"/>
              <a:t> en HTML): tienen la mayor especificidad.</a:t>
            </a:r>
          </a:p>
          <a:p>
            <a:pPr lvl="1"/>
            <a:r>
              <a:rPr lang="es-ES" b="1" dirty="0"/>
              <a:t>Selectores de </a:t>
            </a:r>
            <a:r>
              <a:rPr lang="es-ES" b="1" dirty="0">
                <a:solidFill>
                  <a:srgbClr val="00B050"/>
                </a:solidFill>
              </a:rPr>
              <a:t>ID</a:t>
            </a:r>
            <a:r>
              <a:rPr lang="es-ES" dirty="0"/>
              <a:t>: un selector con # tiene alta especificidad.</a:t>
            </a:r>
          </a:p>
          <a:p>
            <a:pPr lvl="1"/>
            <a:r>
              <a:rPr lang="es-ES" b="1" dirty="0"/>
              <a:t>Selectores de </a:t>
            </a:r>
            <a:r>
              <a:rPr lang="es-ES" b="1" dirty="0">
                <a:solidFill>
                  <a:srgbClr val="00B050"/>
                </a:solidFill>
              </a:rPr>
              <a:t>clase</a:t>
            </a:r>
            <a:r>
              <a:rPr lang="es-ES" b="1" dirty="0"/>
              <a:t>, </a:t>
            </a:r>
            <a:r>
              <a:rPr lang="es-ES" b="1" dirty="0">
                <a:solidFill>
                  <a:srgbClr val="00B050"/>
                </a:solidFill>
              </a:rPr>
              <a:t>atributos</a:t>
            </a:r>
            <a:r>
              <a:rPr lang="es-ES" b="1" dirty="0"/>
              <a:t> o </a:t>
            </a:r>
            <a:r>
              <a:rPr lang="es-ES" b="1" dirty="0" err="1">
                <a:solidFill>
                  <a:srgbClr val="00B050"/>
                </a:solidFill>
              </a:rPr>
              <a:t>pseudoclases</a:t>
            </a:r>
            <a:r>
              <a:rPr lang="es-ES" dirty="0"/>
              <a:t>: un selector con ., [], o :</a:t>
            </a:r>
            <a:r>
              <a:rPr lang="es-ES" dirty="0" err="1"/>
              <a:t>hover</a:t>
            </a:r>
            <a:r>
              <a:rPr lang="es-ES" dirty="0"/>
              <a:t> tiene especificidad media.</a:t>
            </a:r>
          </a:p>
          <a:p>
            <a:pPr lvl="1"/>
            <a:r>
              <a:rPr lang="es-ES" b="1" dirty="0"/>
              <a:t>Selectores de </a:t>
            </a:r>
            <a:r>
              <a:rPr lang="es-ES" b="1" dirty="0">
                <a:solidFill>
                  <a:srgbClr val="00B050"/>
                </a:solidFill>
              </a:rPr>
              <a:t>tipo</a:t>
            </a:r>
            <a:r>
              <a:rPr lang="es-ES" b="1" dirty="0"/>
              <a:t> o </a:t>
            </a:r>
            <a:r>
              <a:rPr lang="es-ES" b="1" dirty="0" err="1">
                <a:solidFill>
                  <a:srgbClr val="00B050"/>
                </a:solidFill>
              </a:rPr>
              <a:t>pseudoelementos</a:t>
            </a:r>
            <a:r>
              <a:rPr lang="es-ES" dirty="0"/>
              <a:t>: selectores como h1, p, ::</a:t>
            </a:r>
            <a:r>
              <a:rPr lang="es-ES" dirty="0" err="1"/>
              <a:t>before</a:t>
            </a:r>
            <a:r>
              <a:rPr lang="es-ES" dirty="0"/>
              <a:t> tienen la menor especificidad.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22885B-313E-5BA7-0799-813B6B18E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76" y="2443779"/>
            <a:ext cx="3936067" cy="176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3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7E60D-50F7-E9AA-2F87-D544589E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 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1DFEC2-E99B-D46F-E66D-F781CFF4C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</a:t>
            </a:r>
            <a:r>
              <a:rPr lang="es-ES" baseline="0" dirty="0"/>
              <a:t> HIJOS HEREDAN ALGUNAS PROPIEDADES DE LOS PADRES</a:t>
            </a:r>
          </a:p>
          <a:p>
            <a:pPr lvl="1"/>
            <a:r>
              <a:rPr lang="es-ES" dirty="0"/>
              <a:t>color, </a:t>
            </a:r>
            <a:r>
              <a:rPr lang="es-ES" dirty="0" err="1"/>
              <a:t>font-family</a:t>
            </a:r>
            <a:r>
              <a:rPr lang="es-ES" dirty="0"/>
              <a:t>, line-</a:t>
            </a:r>
            <a:r>
              <a:rPr lang="es-ES" dirty="0" err="1"/>
              <a:t>height</a:t>
            </a:r>
            <a:endParaRPr lang="es-ES" dirty="0"/>
          </a:p>
          <a:p>
            <a:pPr lvl="0"/>
            <a:r>
              <a:rPr lang="es-ES" dirty="0"/>
              <a:t>NO</a:t>
            </a:r>
            <a:r>
              <a:rPr lang="es-ES" baseline="0" dirty="0"/>
              <a:t> TODAS SE HEREDAN</a:t>
            </a:r>
          </a:p>
          <a:p>
            <a:pPr lvl="1"/>
            <a:r>
              <a:rPr lang="es-ES" dirty="0" err="1"/>
              <a:t>margin</a:t>
            </a:r>
            <a:r>
              <a:rPr lang="es-ES" dirty="0"/>
              <a:t>, </a:t>
            </a:r>
            <a:r>
              <a:rPr lang="es-ES" dirty="0" err="1"/>
              <a:t>border</a:t>
            </a:r>
            <a:r>
              <a:rPr lang="es-ES" dirty="0"/>
              <a:t>,</a:t>
            </a:r>
            <a:r>
              <a:rPr lang="es-ES" baseline="0" dirty="0"/>
              <a:t> </a:t>
            </a:r>
            <a:r>
              <a:rPr lang="es-ES" baseline="0" dirty="0" err="1"/>
              <a:t>padding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237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D3003-EFF3-2D1B-041C-C4BD8EC3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 VALORES</a:t>
            </a:r>
            <a:r>
              <a:rPr lang="es-ES" baseline="0" dirty="0"/>
              <a:t> Y UNIDADES: Tipos de datos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36174B-FD05-25AC-B609-C6056D2E2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1410"/>
            <a:ext cx="7292052" cy="4410881"/>
          </a:xfrm>
        </p:spPr>
        <p:txBody>
          <a:bodyPr/>
          <a:lstStyle/>
          <a:p>
            <a:pPr lvl="1"/>
            <a:r>
              <a:rPr lang="es-ES" b="1" dirty="0">
                <a:solidFill>
                  <a:srgbClr val="00B050"/>
                </a:solidFill>
              </a:rPr>
              <a:t>Entero</a:t>
            </a:r>
            <a:r>
              <a:rPr lang="es-ES" dirty="0"/>
              <a:t>: Representa números sin decimales. Se utiliza en propiedades que requieren valores completos como z-</a:t>
            </a:r>
            <a:r>
              <a:rPr lang="es-ES" dirty="0" err="1"/>
              <a:t>index</a:t>
            </a:r>
            <a:r>
              <a:rPr lang="es-ES" dirty="0"/>
              <a:t>, </a:t>
            </a:r>
            <a:r>
              <a:rPr lang="es-ES" dirty="0" err="1"/>
              <a:t>border-width</a:t>
            </a:r>
            <a:r>
              <a:rPr lang="es-ES" dirty="0"/>
              <a:t> o line-</a:t>
            </a:r>
            <a:r>
              <a:rPr lang="es-ES" dirty="0" err="1"/>
              <a:t>height</a:t>
            </a:r>
            <a:r>
              <a:rPr lang="es-ES" dirty="0"/>
              <a:t> cuando no es fraccional. Ejemplo: </a:t>
            </a:r>
            <a:r>
              <a:rPr lang="es-ES" dirty="0" err="1"/>
              <a:t>border-width</a:t>
            </a:r>
            <a:r>
              <a:rPr lang="es-ES" dirty="0"/>
              <a:t>: 2px; donde el valor es un entero.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Decimal</a:t>
            </a:r>
            <a:r>
              <a:rPr lang="es-ES" dirty="0"/>
              <a:t>: Se usa para definir números que incluyen una parte fraccionaria, lo que permite una mayor precisión. Es común en propiedades que afectan dimensiones o escalas, como </a:t>
            </a:r>
            <a:r>
              <a:rPr lang="es-ES" dirty="0" err="1"/>
              <a:t>opacity</a:t>
            </a:r>
            <a:r>
              <a:rPr lang="es-ES" dirty="0"/>
              <a:t> o </a:t>
            </a:r>
            <a:r>
              <a:rPr lang="es-ES" dirty="0" err="1"/>
              <a:t>font-size</a:t>
            </a:r>
            <a:r>
              <a:rPr lang="es-ES" dirty="0"/>
              <a:t>. Ejemplo: </a:t>
            </a:r>
            <a:r>
              <a:rPr lang="es-ES" dirty="0" err="1"/>
              <a:t>opacity</a:t>
            </a:r>
            <a:r>
              <a:rPr lang="es-ES" dirty="0"/>
              <a:t>: 0.75;, donde 0.75 es un valor decimal.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Dimensión</a:t>
            </a:r>
            <a:r>
              <a:rPr lang="es-ES" dirty="0"/>
              <a:t>: Los valores de dimensión son combinaciones de un número (entero o decimal) con una unidad, como </a:t>
            </a:r>
            <a:r>
              <a:rPr lang="es-ES" dirty="0" err="1"/>
              <a:t>px</a:t>
            </a:r>
            <a:r>
              <a:rPr lang="es-ES" dirty="0"/>
              <a:t>, em, rem, etc. Ejemplo: </a:t>
            </a:r>
            <a:r>
              <a:rPr lang="es-ES" dirty="0" err="1"/>
              <a:t>width</a:t>
            </a:r>
            <a:r>
              <a:rPr lang="es-ES" dirty="0"/>
              <a:t>: 100px; donde 100px es una dimensión.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Porcentaje</a:t>
            </a:r>
            <a:r>
              <a:rPr lang="es-ES" dirty="0"/>
              <a:t>: Representa un valor relativo al contenedor del elemento o al contexto de la propiedad. Es útil para lograr diseños adaptables y flexibles. Ejemplo: </a:t>
            </a:r>
            <a:r>
              <a:rPr lang="es-ES" dirty="0" err="1"/>
              <a:t>width</a:t>
            </a:r>
            <a:r>
              <a:rPr lang="es-ES" dirty="0"/>
              <a:t>: 50%; significa que el ancho será la mitad del contenedor.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BC76C4-30E8-8A99-7668-DCA636742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85" y="4787399"/>
            <a:ext cx="6481130" cy="187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6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BEA04-EC6F-5A1B-E321-9D218EFB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 VALORES Y UNIDADES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4BF5DC-B4FD-7357-ABD5-98390F9155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2 Longitud</a:t>
            </a:r>
            <a:r>
              <a:rPr lang="es-ES" baseline="0" dirty="0"/>
              <a:t> absoluta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F07E1C-5D41-CE62-FA60-AA098820E5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No dependen del contexto</a:t>
            </a:r>
          </a:p>
          <a:p>
            <a:r>
              <a:rPr lang="es-ES" dirty="0"/>
              <a:t>Precisas, inmutables</a:t>
            </a:r>
          </a:p>
          <a:p>
            <a:r>
              <a:rPr lang="es-ES" dirty="0"/>
              <a:t>Comprometen la adaptabilidad de la página</a:t>
            </a:r>
          </a:p>
          <a:p>
            <a:pPr lvl="1"/>
            <a:r>
              <a:rPr lang="es-ES" dirty="0" err="1"/>
              <a:t>px</a:t>
            </a:r>
            <a:r>
              <a:rPr lang="es-ES" dirty="0"/>
              <a:t>: </a:t>
            </a:r>
            <a:r>
              <a:rPr lang="es-ES" b="1" dirty="0"/>
              <a:t>Píxeles</a:t>
            </a:r>
            <a:r>
              <a:rPr lang="es-ES" dirty="0"/>
              <a:t>. Es la unidad más utilizada y representa un punto en la pantalla. Ejemplo: </a:t>
            </a:r>
            <a:r>
              <a:rPr lang="es-ES" dirty="0" err="1"/>
              <a:t>font-size</a:t>
            </a:r>
            <a:r>
              <a:rPr lang="es-ES" dirty="0"/>
              <a:t>: 16px;.</a:t>
            </a:r>
          </a:p>
          <a:p>
            <a:pPr lvl="1"/>
            <a:r>
              <a:rPr lang="es-ES" dirty="0"/>
              <a:t>cm: </a:t>
            </a:r>
            <a:r>
              <a:rPr lang="es-ES" b="1" dirty="0"/>
              <a:t>Centímetros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mm: </a:t>
            </a:r>
            <a:r>
              <a:rPr lang="es-ES" b="1" dirty="0"/>
              <a:t>Milímetros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in: </a:t>
            </a:r>
            <a:r>
              <a:rPr lang="es-ES" b="1" dirty="0"/>
              <a:t>Pulgadas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pt: </a:t>
            </a:r>
            <a:r>
              <a:rPr lang="es-ES" b="1" dirty="0"/>
              <a:t>Puntos</a:t>
            </a:r>
            <a:r>
              <a:rPr lang="es-ES" dirty="0"/>
              <a:t> (utilizados en tipografía).</a:t>
            </a:r>
          </a:p>
          <a:p>
            <a:pPr lvl="1"/>
            <a:r>
              <a:rPr lang="es-ES" dirty="0"/>
              <a:t>pc: </a:t>
            </a:r>
            <a:r>
              <a:rPr lang="es-ES" b="1" dirty="0"/>
              <a:t>Picas</a:t>
            </a:r>
            <a:r>
              <a:rPr lang="es-ES" dirty="0"/>
              <a:t> (1 pica = 12 puntos).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F4DC16-5434-C0C4-59E2-348F6A334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644" y="4639383"/>
            <a:ext cx="3588485" cy="177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7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FBFC6-3177-F8AB-86CF-5890E240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 VALORES</a:t>
            </a:r>
            <a:r>
              <a:rPr lang="es-ES" baseline="0" dirty="0"/>
              <a:t> Y UNIDADES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D788A5-E6E1-1D3E-5D1B-0EDF4A191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3</a:t>
            </a:r>
            <a:r>
              <a:rPr lang="es-ES" baseline="0" dirty="0"/>
              <a:t> Longitud relativa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44F8E5A-31D7-FA45-1E3B-439712B13D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Dependen</a:t>
            </a:r>
            <a:r>
              <a:rPr lang="es-ES" baseline="0" dirty="0"/>
              <a:t> de otras propiedades o elementos</a:t>
            </a:r>
          </a:p>
          <a:p>
            <a:r>
              <a:rPr lang="es-ES" baseline="0" dirty="0"/>
              <a:t>Flexibilidad y adaptabilidad</a:t>
            </a:r>
          </a:p>
          <a:p>
            <a:pPr lvl="1"/>
            <a:r>
              <a:rPr lang="es-ES" dirty="0">
                <a:solidFill>
                  <a:srgbClr val="00B050"/>
                </a:solidFill>
              </a:rPr>
              <a:t>em</a:t>
            </a:r>
            <a:r>
              <a:rPr lang="es-ES" dirty="0"/>
              <a:t>: Se basa en el tamaño de la fuente del elemento padre. Si el tamaño de la fuente del contenedor es 16px, entonces 1em es igual a 16px. Ejemplo: </a:t>
            </a:r>
            <a:r>
              <a:rPr lang="es-ES" dirty="0" err="1"/>
              <a:t>font-size</a:t>
            </a:r>
            <a:r>
              <a:rPr lang="es-ES" dirty="0"/>
              <a:t>: 2em; sería igual a 32 píxeles.</a:t>
            </a:r>
          </a:p>
          <a:p>
            <a:pPr lvl="1"/>
            <a:r>
              <a:rPr lang="es-ES" dirty="0">
                <a:solidFill>
                  <a:srgbClr val="00B050"/>
                </a:solidFill>
              </a:rPr>
              <a:t>rem</a:t>
            </a:r>
            <a:r>
              <a:rPr lang="es-ES" dirty="0"/>
              <a:t>: Similar a em, pero se basa en el tamaño de la fuente de la raíz (generalmente &lt;</a:t>
            </a:r>
            <a:r>
              <a:rPr lang="es-ES" dirty="0" err="1"/>
              <a:t>html</a:t>
            </a:r>
            <a:r>
              <a:rPr lang="es-ES" dirty="0"/>
              <a:t>&gt;). Ejemplo: </a:t>
            </a:r>
            <a:r>
              <a:rPr lang="es-ES" dirty="0" err="1"/>
              <a:t>font-size</a:t>
            </a:r>
            <a:r>
              <a:rPr lang="es-ES" dirty="0"/>
              <a:t>: 1rem;.</a:t>
            </a:r>
          </a:p>
          <a:p>
            <a:pPr lvl="1"/>
            <a:r>
              <a:rPr lang="es-ES" dirty="0">
                <a:solidFill>
                  <a:srgbClr val="00B050"/>
                </a:solidFill>
              </a:rPr>
              <a:t>%:</a:t>
            </a:r>
            <a:r>
              <a:rPr lang="es-ES" dirty="0"/>
              <a:t> Representa un porcentaje del tamaño del contenedor. Ejemplo: </a:t>
            </a:r>
            <a:r>
              <a:rPr lang="es-ES" dirty="0" err="1"/>
              <a:t>width</a:t>
            </a:r>
            <a:r>
              <a:rPr lang="es-ES" dirty="0"/>
              <a:t>: 50% indica que el elemento ocupará la mitad del ancho del contenedor padre.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05F535-678E-711B-A76F-97AA33FC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33" y="4277221"/>
            <a:ext cx="7375526" cy="223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92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6CA7D-7BEA-9680-1FA5-31DB50CB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 VALORES Y UNIDADES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8DB2C7-F000-DC56-E20D-FA20593A54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4. Colores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F9E4698-7B2E-2222-F8E2-C7F47A567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s-ES" b="1" dirty="0">
                <a:solidFill>
                  <a:srgbClr val="00B050"/>
                </a:solidFill>
              </a:rPr>
              <a:t>Hexadecimal</a:t>
            </a:r>
            <a:r>
              <a:rPr lang="es-ES" dirty="0"/>
              <a:t>: Los colores se expresan en formato hexadecimal, comenzando con #, seguido de 3 o 6 dígitos. Ejemplo: #ff0000 (rojo).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RGB</a:t>
            </a:r>
            <a:r>
              <a:rPr lang="es-ES" dirty="0"/>
              <a:t>: Define colores mediante los valores rojo, verde y azul, con números entre 0 y 255. Ejemplo: </a:t>
            </a:r>
            <a:r>
              <a:rPr lang="es-ES" dirty="0" err="1"/>
              <a:t>rgb</a:t>
            </a:r>
            <a:r>
              <a:rPr lang="es-ES" dirty="0"/>
              <a:t>(255, 0, 0) (rojo).</a:t>
            </a:r>
          </a:p>
          <a:p>
            <a:pPr lvl="1"/>
            <a:r>
              <a:rPr lang="es-ES" b="1" dirty="0">
                <a:solidFill>
                  <a:srgbClr val="00B050"/>
                </a:solidFill>
              </a:rPr>
              <a:t>Palabras clave</a:t>
            </a:r>
            <a:r>
              <a:rPr lang="es-ES" dirty="0"/>
              <a:t>: CSS incluye varias palabras clave para colores comunes. Ejemplo: color: red;.</a:t>
            </a:r>
          </a:p>
          <a:p>
            <a:r>
              <a:rPr lang="es-ES" dirty="0">
                <a:hlinkClick r:id="rId2"/>
              </a:rPr>
              <a:t>Ejemplo diferentes formas de mostrar el mismo color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7FF973-F32F-9E84-8A8F-BF7430D9B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8" y="3191493"/>
            <a:ext cx="7884535" cy="22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5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4F043-F935-3B4D-5FDC-6F402DA4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 VALORES</a:t>
            </a:r>
            <a:r>
              <a:rPr lang="es-ES" baseline="0" dirty="0"/>
              <a:t> Y UNIDADES</a:t>
            </a:r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C32000B-C808-9940-09B0-8956FF6CE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Ejemplos</a:t>
            </a:r>
          </a:p>
          <a:p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7F4A234-E40E-44DE-32CD-D580C9C7750A}"/>
              </a:ext>
            </a:extLst>
          </p:cNvPr>
          <p:cNvSpPr txBox="1">
            <a:spLocks/>
          </p:cNvSpPr>
          <p:nvPr/>
        </p:nvSpPr>
        <p:spPr>
          <a:xfrm>
            <a:off x="158184" y="1218434"/>
            <a:ext cx="7978591" cy="4745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rgbClr val="ECA92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i="1" dirty="0"/>
              <a:t>Unidades de longitud relativas</a:t>
            </a:r>
            <a:endParaRPr lang="es-ES" sz="1400" dirty="0"/>
          </a:p>
          <a:p>
            <a:pPr lvl="1"/>
            <a:r>
              <a:rPr lang="en-US" sz="1200" dirty="0">
                <a:solidFill>
                  <a:srgbClr val="00B050"/>
                </a:solidFill>
              </a:rPr>
              <a:t>p { line-height: 120</a:t>
            </a:r>
            <a:r>
              <a:rPr lang="en-US" sz="1200" b="1" dirty="0">
                <a:solidFill>
                  <a:srgbClr val="00B050"/>
                </a:solidFill>
              </a:rPr>
              <a:t>%</a:t>
            </a:r>
            <a:r>
              <a:rPr lang="en-US" sz="1200" dirty="0">
                <a:solidFill>
                  <a:srgbClr val="00B050"/>
                </a:solidFill>
              </a:rPr>
              <a:t> }   	  /* </a:t>
            </a:r>
            <a:r>
              <a:rPr lang="en-US" sz="1200" dirty="0" err="1">
                <a:solidFill>
                  <a:srgbClr val="00B050"/>
                </a:solidFill>
              </a:rPr>
              <a:t>porcentaje</a:t>
            </a:r>
            <a:r>
              <a:rPr lang="en-US" sz="1200" dirty="0">
                <a:solidFill>
                  <a:srgbClr val="00B050"/>
                </a:solidFill>
              </a:rPr>
              <a:t> de 120% </a:t>
            </a:r>
            <a:r>
              <a:rPr lang="en-US" sz="1200" dirty="0" err="1">
                <a:solidFill>
                  <a:srgbClr val="00B050"/>
                </a:solidFill>
              </a:rPr>
              <a:t>respecto</a:t>
            </a:r>
            <a:r>
              <a:rPr lang="en-US" sz="1200" dirty="0">
                <a:solidFill>
                  <a:srgbClr val="00B050"/>
                </a:solidFill>
              </a:rPr>
              <a:t> al </a:t>
            </a:r>
            <a:r>
              <a:rPr lang="en-US" sz="1200" dirty="0" err="1">
                <a:solidFill>
                  <a:srgbClr val="00B050"/>
                </a:solidFill>
              </a:rPr>
              <a:t>tamaño</a:t>
            </a:r>
            <a:r>
              <a:rPr lang="en-US" sz="1200" dirty="0">
                <a:solidFill>
                  <a:srgbClr val="00B050"/>
                </a:solidFill>
              </a:rPr>
              <a:t> de la </a:t>
            </a:r>
            <a:r>
              <a:rPr lang="en-US" sz="1200" dirty="0" err="1">
                <a:solidFill>
                  <a:srgbClr val="00B050"/>
                </a:solidFill>
              </a:rPr>
              <a:t>fuente</a:t>
            </a:r>
            <a:r>
              <a:rPr lang="en-US" sz="1200" dirty="0">
                <a:solidFill>
                  <a:srgbClr val="00B050"/>
                </a:solidFill>
              </a:rPr>
              <a:t> del </a:t>
            </a:r>
            <a:r>
              <a:rPr lang="en-US" sz="1200" dirty="0" err="1">
                <a:solidFill>
                  <a:srgbClr val="00B050"/>
                </a:solidFill>
              </a:rPr>
              <a:t>elemento</a:t>
            </a:r>
            <a:r>
              <a:rPr lang="en-US" sz="1200" dirty="0">
                <a:solidFill>
                  <a:srgbClr val="00B050"/>
                </a:solidFill>
              </a:rPr>
              <a:t>*/</a:t>
            </a:r>
            <a:endParaRPr lang="es-ES" sz="1200" dirty="0">
              <a:solidFill>
                <a:srgbClr val="00B050"/>
              </a:solidFill>
            </a:endParaRPr>
          </a:p>
          <a:p>
            <a:pPr lvl="1"/>
            <a:r>
              <a:rPr lang="en-US" sz="1200" dirty="0">
                <a:solidFill>
                  <a:srgbClr val="00B050"/>
                </a:solidFill>
              </a:rPr>
              <a:t>p { margin-top: 1em  }   	  /* equivale a la </a:t>
            </a:r>
            <a:r>
              <a:rPr lang="en-US" sz="1200" dirty="0" err="1">
                <a:solidFill>
                  <a:srgbClr val="00B050"/>
                </a:solidFill>
              </a:rPr>
              <a:t>altura</a:t>
            </a:r>
            <a:r>
              <a:rPr lang="en-US" sz="1200" dirty="0">
                <a:solidFill>
                  <a:srgbClr val="00B050"/>
                </a:solidFill>
              </a:rPr>
              <a:t> de la </a:t>
            </a:r>
            <a:r>
              <a:rPr lang="en-US" sz="1200" dirty="0" err="1">
                <a:solidFill>
                  <a:srgbClr val="00B050"/>
                </a:solidFill>
              </a:rPr>
              <a:t>fuente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asociada</a:t>
            </a:r>
            <a:r>
              <a:rPr lang="en-US" sz="1200" dirty="0">
                <a:solidFill>
                  <a:srgbClr val="00B050"/>
                </a:solidFill>
              </a:rPr>
              <a:t> al </a:t>
            </a:r>
            <a:r>
              <a:rPr lang="en-US" sz="1200" dirty="0" err="1">
                <a:solidFill>
                  <a:srgbClr val="00B050"/>
                </a:solidFill>
              </a:rPr>
              <a:t>elemento</a:t>
            </a:r>
            <a:r>
              <a:rPr lang="en-US" sz="1200" dirty="0">
                <a:solidFill>
                  <a:srgbClr val="00B050"/>
                </a:solidFill>
              </a:rPr>
              <a:t> */</a:t>
            </a:r>
            <a:endParaRPr lang="es-ES" sz="1200" dirty="0">
              <a:solidFill>
                <a:srgbClr val="00B050"/>
              </a:solidFill>
            </a:endParaRPr>
          </a:p>
          <a:p>
            <a:pPr lvl="1"/>
            <a:r>
              <a:rPr lang="en-US" sz="1200" dirty="0">
                <a:solidFill>
                  <a:srgbClr val="00B050"/>
                </a:solidFill>
              </a:rPr>
              <a:t>p { line-height: 1ex }      	  /* </a:t>
            </a:r>
            <a:r>
              <a:rPr lang="en-US" sz="1200" dirty="0" err="1">
                <a:solidFill>
                  <a:srgbClr val="00B050"/>
                </a:solidFill>
              </a:rPr>
              <a:t>tamaño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equivalente</a:t>
            </a:r>
            <a:r>
              <a:rPr lang="en-US" sz="1200" dirty="0">
                <a:solidFill>
                  <a:srgbClr val="00B050"/>
                </a:solidFill>
              </a:rPr>
              <a:t> a la </a:t>
            </a:r>
            <a:r>
              <a:rPr lang="en-US" sz="1200" dirty="0" err="1">
                <a:solidFill>
                  <a:srgbClr val="00B050"/>
                </a:solidFill>
              </a:rPr>
              <a:t>altura</a:t>
            </a:r>
            <a:r>
              <a:rPr lang="en-US" sz="1200" dirty="0">
                <a:solidFill>
                  <a:srgbClr val="00B050"/>
                </a:solidFill>
              </a:rPr>
              <a:t> de la ‘x’ de la </a:t>
            </a:r>
            <a:r>
              <a:rPr lang="en-US" sz="1200" dirty="0" err="1">
                <a:solidFill>
                  <a:srgbClr val="00B050"/>
                </a:solidFill>
              </a:rPr>
              <a:t>fuente</a:t>
            </a:r>
            <a:r>
              <a:rPr lang="en-US" sz="1200" dirty="0">
                <a:solidFill>
                  <a:srgbClr val="00B050"/>
                </a:solidFill>
              </a:rPr>
              <a:t> del </a:t>
            </a:r>
            <a:r>
              <a:rPr lang="en-US" sz="1200" dirty="0" err="1">
                <a:solidFill>
                  <a:srgbClr val="00B050"/>
                </a:solidFill>
              </a:rPr>
              <a:t>elemento</a:t>
            </a:r>
            <a:r>
              <a:rPr lang="en-US" sz="1200" dirty="0">
                <a:solidFill>
                  <a:srgbClr val="00B050"/>
                </a:solidFill>
              </a:rPr>
              <a:t>*/</a:t>
            </a:r>
            <a:endParaRPr lang="es-ES" sz="1200" dirty="0">
              <a:solidFill>
                <a:srgbClr val="00B050"/>
              </a:solidFill>
            </a:endParaRPr>
          </a:p>
          <a:p>
            <a:pPr lvl="1"/>
            <a:r>
              <a:rPr lang="en-US" sz="1200" dirty="0">
                <a:solidFill>
                  <a:srgbClr val="00B050"/>
                </a:solidFill>
              </a:rPr>
              <a:t>p { line-height: 12px }    	  /* </a:t>
            </a:r>
            <a:r>
              <a:rPr lang="en-US" sz="1200" dirty="0" err="1">
                <a:solidFill>
                  <a:srgbClr val="00B050"/>
                </a:solidFill>
              </a:rPr>
              <a:t>tamaño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en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píxeles</a:t>
            </a:r>
            <a:r>
              <a:rPr lang="en-US" sz="1200" dirty="0">
                <a:solidFill>
                  <a:srgbClr val="00B050"/>
                </a:solidFill>
              </a:rPr>
              <a:t>, </a:t>
            </a:r>
            <a:r>
              <a:rPr lang="en-US" sz="1200" dirty="0" err="1">
                <a:solidFill>
                  <a:srgbClr val="00B050"/>
                </a:solidFill>
              </a:rPr>
              <a:t>relativos</a:t>
            </a:r>
            <a:r>
              <a:rPr lang="en-US" sz="1200" dirty="0">
                <a:solidFill>
                  <a:srgbClr val="00B050"/>
                </a:solidFill>
              </a:rPr>
              <a:t> a la </a:t>
            </a:r>
            <a:r>
              <a:rPr lang="en-US" sz="1200" dirty="0" err="1">
                <a:solidFill>
                  <a:srgbClr val="00B050"/>
                </a:solidFill>
              </a:rPr>
              <a:t>resolución</a:t>
            </a:r>
            <a:r>
              <a:rPr lang="en-US" sz="1200" dirty="0">
                <a:solidFill>
                  <a:srgbClr val="00B050"/>
                </a:solidFill>
              </a:rPr>
              <a:t> del </a:t>
            </a:r>
            <a:r>
              <a:rPr lang="en-US" sz="1200" dirty="0" err="1">
                <a:solidFill>
                  <a:srgbClr val="00B050"/>
                </a:solidFill>
              </a:rPr>
              <a:t>área</a:t>
            </a:r>
            <a:r>
              <a:rPr lang="en-US" sz="1200" dirty="0">
                <a:solidFill>
                  <a:srgbClr val="00B050"/>
                </a:solidFill>
              </a:rPr>
              <a:t> de </a:t>
            </a:r>
            <a:r>
              <a:rPr lang="en-US" sz="1200" dirty="0" err="1">
                <a:solidFill>
                  <a:srgbClr val="00B050"/>
                </a:solidFill>
              </a:rPr>
              <a:t>visualización</a:t>
            </a:r>
            <a:r>
              <a:rPr lang="en-US" sz="1200" dirty="0">
                <a:solidFill>
                  <a:srgbClr val="00B050"/>
                </a:solidFill>
              </a:rPr>
              <a:t>*/</a:t>
            </a:r>
            <a:endParaRPr lang="es-ES" sz="1200" dirty="0">
              <a:solidFill>
                <a:srgbClr val="00B050"/>
              </a:solidFill>
            </a:endParaRPr>
          </a:p>
          <a:p>
            <a:endParaRPr lang="es-ES_tradnl" sz="14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sz="1400" b="1" i="1" dirty="0"/>
          </a:p>
          <a:p>
            <a:r>
              <a:rPr lang="es-ES_tradnl" sz="1400" b="1" i="1" dirty="0"/>
              <a:t>Unidades de longitud absolutas</a:t>
            </a:r>
            <a:endParaRPr lang="es-ES" sz="1400" dirty="0"/>
          </a:p>
          <a:p>
            <a:pPr lvl="1"/>
            <a:r>
              <a:rPr lang="es-ES" sz="1200" dirty="0">
                <a:solidFill>
                  <a:srgbClr val="00B050"/>
                </a:solidFill>
              </a:rPr>
              <a:t>H1 { </a:t>
            </a:r>
            <a:r>
              <a:rPr lang="es-ES" sz="1200" dirty="0" err="1">
                <a:solidFill>
                  <a:srgbClr val="00B050"/>
                </a:solidFill>
              </a:rPr>
              <a:t>margin</a:t>
            </a:r>
            <a:r>
              <a:rPr lang="es-ES" sz="1200" dirty="0">
                <a:solidFill>
                  <a:srgbClr val="00B050"/>
                </a:solidFill>
              </a:rPr>
              <a:t>: 0.5in } 		/* pulgadas (</a:t>
            </a:r>
            <a:r>
              <a:rPr lang="es-ES" sz="1200" dirty="0" err="1">
                <a:solidFill>
                  <a:srgbClr val="00B050"/>
                </a:solidFill>
              </a:rPr>
              <a:t>inches</a:t>
            </a:r>
            <a:r>
              <a:rPr lang="es-ES" sz="1200" dirty="0">
                <a:solidFill>
                  <a:srgbClr val="00B050"/>
                </a:solidFill>
              </a:rPr>
              <a:t>), 1in = 2.54cm */ </a:t>
            </a:r>
          </a:p>
          <a:p>
            <a:pPr lvl="1"/>
            <a:r>
              <a:rPr lang="es-ES" sz="1200" dirty="0">
                <a:solidFill>
                  <a:srgbClr val="00B050"/>
                </a:solidFill>
              </a:rPr>
              <a:t>H2 { line-</a:t>
            </a:r>
            <a:r>
              <a:rPr lang="es-ES" sz="1200" dirty="0" err="1">
                <a:solidFill>
                  <a:srgbClr val="00B050"/>
                </a:solidFill>
              </a:rPr>
              <a:t>height</a:t>
            </a:r>
            <a:r>
              <a:rPr lang="es-ES" sz="1200" dirty="0">
                <a:solidFill>
                  <a:srgbClr val="00B050"/>
                </a:solidFill>
              </a:rPr>
              <a:t>: 3cm } 		/* centímetros */ </a:t>
            </a:r>
          </a:p>
          <a:p>
            <a:pPr lvl="1"/>
            <a:r>
              <a:rPr lang="es-ES" sz="1200" dirty="0">
                <a:solidFill>
                  <a:srgbClr val="00B050"/>
                </a:solidFill>
              </a:rPr>
              <a:t>H3 { </a:t>
            </a:r>
            <a:r>
              <a:rPr lang="es-ES" sz="1200" dirty="0" err="1">
                <a:solidFill>
                  <a:srgbClr val="00B050"/>
                </a:solidFill>
              </a:rPr>
              <a:t>word-spacing</a:t>
            </a:r>
            <a:r>
              <a:rPr lang="es-ES" sz="1200" dirty="0">
                <a:solidFill>
                  <a:srgbClr val="00B050"/>
                </a:solidFill>
              </a:rPr>
              <a:t>: 4mm } 		/* milímetros */ </a:t>
            </a:r>
          </a:p>
          <a:p>
            <a:pPr lvl="1"/>
            <a:r>
              <a:rPr lang="es-ES" sz="1200" dirty="0">
                <a:solidFill>
                  <a:srgbClr val="00B050"/>
                </a:solidFill>
              </a:rPr>
              <a:t>H4 { </a:t>
            </a:r>
            <a:r>
              <a:rPr lang="es-ES" sz="1200" dirty="0" err="1">
                <a:solidFill>
                  <a:srgbClr val="00B050"/>
                </a:solidFill>
              </a:rPr>
              <a:t>font-size</a:t>
            </a:r>
            <a:r>
              <a:rPr lang="es-ES" sz="1200" dirty="0">
                <a:solidFill>
                  <a:srgbClr val="00B050"/>
                </a:solidFill>
              </a:rPr>
              <a:t>: 12pt } 		/* puntos, 1pt = 1/72 in */ </a:t>
            </a:r>
          </a:p>
          <a:p>
            <a:pPr lvl="1"/>
            <a:r>
              <a:rPr lang="es-ES" sz="1200" dirty="0">
                <a:solidFill>
                  <a:srgbClr val="00B050"/>
                </a:solidFill>
              </a:rPr>
              <a:t>H5 { </a:t>
            </a:r>
            <a:r>
              <a:rPr lang="es-ES" sz="1200" dirty="0" err="1">
                <a:solidFill>
                  <a:srgbClr val="00B050"/>
                </a:solidFill>
              </a:rPr>
              <a:t>font-size</a:t>
            </a:r>
            <a:r>
              <a:rPr lang="es-ES" sz="1200" dirty="0">
                <a:solidFill>
                  <a:srgbClr val="00B050"/>
                </a:solidFill>
              </a:rPr>
              <a:t>: 1pc } 		/* picas, 1pc = 12pt */</a:t>
            </a:r>
          </a:p>
          <a:p>
            <a:pPr lvl="1"/>
            <a:endParaRPr lang="es-E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500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B07BC-421A-73B1-CCEF-613B8942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 SELECTORES</a:t>
            </a:r>
            <a:r>
              <a:rPr lang="es-ES" baseline="0" dirty="0"/>
              <a:t> CSS </a:t>
            </a:r>
            <a:r>
              <a:rPr lang="es-ES" dirty="0"/>
              <a:t>en</a:t>
            </a:r>
            <a:r>
              <a:rPr lang="es-ES" sz="2000" dirty="0">
                <a:solidFill>
                  <a:srgbClr val="00B050"/>
                </a:solidFill>
              </a:rPr>
              <a:t> </a:t>
            </a:r>
            <a:r>
              <a:rPr lang="es-ES" sz="2000" dirty="0">
                <a:solidFill>
                  <a:srgbClr val="00B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ejemplo 9</a:t>
            </a:r>
            <a:r>
              <a:rPr lang="es-ES" dirty="0"/>
              <a:t> se usan selectores básicos</a:t>
            </a:r>
            <a:br>
              <a:rPr lang="es-ES" dirty="0">
                <a:solidFill>
                  <a:srgbClr val="00B050"/>
                </a:solidFill>
              </a:rPr>
            </a:br>
            <a:r>
              <a:rPr lang="es-ES" sz="2000" dirty="0">
                <a:solidFill>
                  <a:srgbClr val="00B050"/>
                </a:solidFill>
              </a:rPr>
              <a:t> 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0BFFB4-3592-2E18-6528-268545554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85" y="578509"/>
            <a:ext cx="8661724" cy="627949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/>
              <a:t>Permiten</a:t>
            </a:r>
            <a:r>
              <a:rPr lang="es-ES" baseline="0" dirty="0"/>
              <a:t> elegir a</a:t>
            </a:r>
            <a:r>
              <a:rPr lang="es-ES" dirty="0"/>
              <a:t> </a:t>
            </a:r>
            <a:r>
              <a:rPr lang="es-ES" baseline="0" dirty="0"/>
              <a:t>qué elemento HTML aplicar un estilo determinado</a:t>
            </a:r>
          </a:p>
          <a:p>
            <a:r>
              <a:rPr lang="es-ES" dirty="0"/>
              <a:t>Selectores básicos:</a:t>
            </a:r>
          </a:p>
          <a:p>
            <a:pPr lvl="1"/>
            <a:r>
              <a:rPr lang="es-ES" dirty="0">
                <a:solidFill>
                  <a:schemeClr val="accent1"/>
                </a:solidFill>
              </a:rPr>
              <a:t>De tipo: </a:t>
            </a:r>
            <a:r>
              <a:rPr lang="es-ES" dirty="0"/>
              <a:t>-&gt; elementos de un mismo tipo: </a:t>
            </a:r>
            <a:r>
              <a:rPr lang="es-ES" dirty="0">
                <a:solidFill>
                  <a:srgbClr val="00B050"/>
                </a:solidFill>
              </a:rPr>
              <a:t>p</a:t>
            </a:r>
          </a:p>
          <a:p>
            <a:pPr lvl="1"/>
            <a:r>
              <a:rPr lang="es-ES" dirty="0">
                <a:solidFill>
                  <a:schemeClr val="accent1"/>
                </a:solidFill>
              </a:rPr>
              <a:t>De clase: </a:t>
            </a:r>
            <a:r>
              <a:rPr lang="es-ES" dirty="0"/>
              <a:t>-&gt; elemento de una clase	</a:t>
            </a:r>
            <a:r>
              <a:rPr lang="es-ES" dirty="0">
                <a:solidFill>
                  <a:srgbClr val="00B050"/>
                </a:solidFill>
              </a:rPr>
              <a:t>.</a:t>
            </a:r>
            <a:r>
              <a:rPr lang="es-ES" dirty="0" err="1">
                <a:solidFill>
                  <a:srgbClr val="00B050"/>
                </a:solidFill>
              </a:rPr>
              <a:t>class</a:t>
            </a:r>
            <a:endParaRPr lang="es-ES" dirty="0">
              <a:solidFill>
                <a:srgbClr val="00B050"/>
              </a:solidFill>
            </a:endParaRPr>
          </a:p>
          <a:p>
            <a:pPr lvl="1"/>
            <a:r>
              <a:rPr lang="es-ES" dirty="0">
                <a:solidFill>
                  <a:schemeClr val="accent1"/>
                </a:solidFill>
              </a:rPr>
              <a:t>De Id:</a:t>
            </a:r>
            <a:r>
              <a:rPr lang="es-ES" dirty="0"/>
              <a:t> -&gt; elementos con ID específico	</a:t>
            </a:r>
            <a:r>
              <a:rPr lang="es-ES" dirty="0">
                <a:solidFill>
                  <a:srgbClr val="00B050"/>
                </a:solidFill>
              </a:rPr>
              <a:t>#id</a:t>
            </a:r>
          </a:p>
          <a:p>
            <a:r>
              <a:rPr lang="es-ES" dirty="0"/>
              <a:t>Agrupación:</a:t>
            </a:r>
          </a:p>
          <a:p>
            <a:pPr lvl="1"/>
            <a:r>
              <a:rPr lang="es-ES" dirty="0"/>
              <a:t>Aplica</a:t>
            </a:r>
            <a:r>
              <a:rPr lang="es-ES" baseline="0" dirty="0"/>
              <a:t> los mismos estilos a varios elementos: </a:t>
            </a:r>
            <a:r>
              <a:rPr lang="es-ES" baseline="0" dirty="0">
                <a:solidFill>
                  <a:srgbClr val="00B050"/>
                </a:solidFill>
              </a:rPr>
              <a:t>p, </a:t>
            </a:r>
            <a:r>
              <a:rPr lang="es-ES" baseline="0" dirty="0" err="1">
                <a:solidFill>
                  <a:srgbClr val="00B050"/>
                </a:solidFill>
              </a:rPr>
              <a:t>div</a:t>
            </a:r>
            <a:endParaRPr lang="es-ES" dirty="0">
              <a:solidFill>
                <a:srgbClr val="00B050"/>
              </a:solidFill>
            </a:endParaRPr>
          </a:p>
          <a:p>
            <a:r>
              <a:rPr lang="es-ES" dirty="0"/>
              <a:t>Descendiente:</a:t>
            </a:r>
          </a:p>
          <a:p>
            <a:pPr lvl="1"/>
            <a:r>
              <a:rPr lang="es-ES" dirty="0"/>
              <a:t>Aplica a todos los descendientes, sin importar el nivel: </a:t>
            </a:r>
            <a:r>
              <a:rPr lang="es-ES" dirty="0" err="1">
                <a:solidFill>
                  <a:srgbClr val="00B050"/>
                </a:solidFill>
              </a:rPr>
              <a:t>div</a:t>
            </a:r>
            <a:r>
              <a:rPr lang="es-ES" dirty="0">
                <a:solidFill>
                  <a:srgbClr val="00B050"/>
                </a:solidFill>
              </a:rPr>
              <a:t> p</a:t>
            </a:r>
          </a:p>
          <a:p>
            <a:r>
              <a:rPr lang="es-ES" dirty="0"/>
              <a:t>Hijo:</a:t>
            </a:r>
          </a:p>
          <a:p>
            <a:pPr lvl="1"/>
            <a:r>
              <a:rPr lang="es-ES" dirty="0"/>
              <a:t>Aplica solo a los hijos: </a:t>
            </a:r>
            <a:r>
              <a:rPr lang="es-ES" dirty="0" err="1">
                <a:solidFill>
                  <a:srgbClr val="00B050"/>
                </a:solidFill>
              </a:rPr>
              <a:t>div</a:t>
            </a:r>
            <a:r>
              <a:rPr lang="es-ES" dirty="0">
                <a:solidFill>
                  <a:srgbClr val="00B050"/>
                </a:solidFill>
              </a:rPr>
              <a:t> &gt; p</a:t>
            </a:r>
          </a:p>
          <a:p>
            <a:r>
              <a:rPr lang="es-ES" dirty="0"/>
              <a:t>Adyacente:</a:t>
            </a:r>
          </a:p>
          <a:p>
            <a:pPr lvl="1"/>
            <a:r>
              <a:rPr lang="es-ES" dirty="0"/>
              <a:t>Hermano contiguo: </a:t>
            </a:r>
            <a:r>
              <a:rPr lang="es-ES" dirty="0" err="1">
                <a:solidFill>
                  <a:srgbClr val="00B050"/>
                </a:solidFill>
              </a:rPr>
              <a:t>div</a:t>
            </a:r>
            <a:r>
              <a:rPr lang="es-ES" dirty="0">
                <a:solidFill>
                  <a:srgbClr val="00B050"/>
                </a:solidFill>
              </a:rPr>
              <a:t> + p</a:t>
            </a:r>
          </a:p>
          <a:p>
            <a:r>
              <a:rPr lang="es-ES" dirty="0"/>
              <a:t>Hermanos:</a:t>
            </a:r>
          </a:p>
          <a:p>
            <a:pPr lvl="1"/>
            <a:r>
              <a:rPr lang="es-ES" dirty="0"/>
              <a:t>Aplica a todos los hermanos: </a:t>
            </a:r>
            <a:r>
              <a:rPr lang="es-ES" dirty="0" err="1">
                <a:solidFill>
                  <a:srgbClr val="00B050"/>
                </a:solidFill>
              </a:rPr>
              <a:t>div</a:t>
            </a:r>
            <a:r>
              <a:rPr lang="es-ES" dirty="0">
                <a:solidFill>
                  <a:srgbClr val="00B050"/>
                </a:solidFill>
              </a:rPr>
              <a:t> ~ </a:t>
            </a:r>
            <a:r>
              <a:rPr lang="es-ES" dirty="0" err="1">
                <a:solidFill>
                  <a:srgbClr val="00B050"/>
                </a:solidFill>
              </a:rPr>
              <a:t>article</a:t>
            </a:r>
            <a:endParaRPr lang="es-ES" dirty="0">
              <a:solidFill>
                <a:srgbClr val="00B050"/>
              </a:solidFill>
            </a:endParaRPr>
          </a:p>
          <a:p>
            <a:r>
              <a:rPr lang="es-ES" dirty="0"/>
              <a:t>Atributos:</a:t>
            </a:r>
          </a:p>
          <a:p>
            <a:pPr lvl="1"/>
            <a:r>
              <a:rPr lang="es-ES" dirty="0"/>
              <a:t>Aplica a todos los elementos con atributo: </a:t>
            </a:r>
            <a:r>
              <a:rPr lang="es-ES" dirty="0">
                <a:solidFill>
                  <a:srgbClr val="00B050"/>
                </a:solidFill>
              </a:rPr>
              <a:t>[</a:t>
            </a:r>
            <a:r>
              <a:rPr lang="es-ES" dirty="0" err="1">
                <a:solidFill>
                  <a:srgbClr val="00B050"/>
                </a:solidFill>
              </a:rPr>
              <a:t>selected</a:t>
            </a:r>
            <a:r>
              <a:rPr lang="es-ES" dirty="0">
                <a:solidFill>
                  <a:srgbClr val="00B05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0088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5 Tabla">
            <a:extLst>
              <a:ext uri="{FF2B5EF4-FFF2-40B4-BE49-F238E27FC236}">
                <a16:creationId xmlns:a16="http://schemas.microsoft.com/office/drawing/2014/main" id="{2EFA6B96-E64D-38F1-BFE1-6BAF28697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733732"/>
              </p:ext>
            </p:extLst>
          </p:nvPr>
        </p:nvGraphicFramePr>
        <p:xfrm>
          <a:off x="0" y="995423"/>
          <a:ext cx="8495819" cy="515073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86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3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574">
                <a:tc>
                  <a:txBody>
                    <a:bodyPr/>
                    <a:lstStyle/>
                    <a:p>
                      <a:pPr algn="l"/>
                      <a:r>
                        <a:rPr lang="es-ES_tradnl" sz="1400" dirty="0"/>
                        <a:t>SELECTOR</a:t>
                      </a:r>
                      <a:endParaRPr lang="es-ES" sz="1400" dirty="0"/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400" dirty="0"/>
                        <a:t>EJEMPLO</a:t>
                      </a:r>
                      <a:endParaRPr lang="es-ES" sz="1400" dirty="0"/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0" algn="l"/>
                      <a:r>
                        <a:rPr lang="es-ES_tradnl" sz="1400" dirty="0"/>
                        <a:t>DESCRIPCIÓN</a:t>
                      </a:r>
                      <a:endParaRPr lang="es-ES" sz="1400" dirty="0"/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dirty="0"/>
                        <a:t>.</a:t>
                      </a:r>
                      <a:r>
                        <a:rPr lang="es-ES_tradnl" sz="1400" b="1" dirty="0" err="1"/>
                        <a:t>class</a:t>
                      </a:r>
                      <a:endParaRPr lang="es-ES" sz="1400" b="1" dirty="0"/>
                    </a:p>
                  </a:txBody>
                  <a:tcPr marT="34290" marB="3429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>
                          <a:solidFill>
                            <a:schemeClr val="tx2"/>
                          </a:solidFill>
                        </a:rPr>
                        <a:t>.introducción</a:t>
                      </a:r>
                      <a:endParaRPr lang="es-ES" sz="1200" dirty="0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0" algn="l"/>
                      <a:r>
                        <a:rPr lang="es-ES_tradnl" sz="1200" dirty="0">
                          <a:solidFill>
                            <a:schemeClr val="tx2"/>
                          </a:solidFill>
                        </a:rPr>
                        <a:t>Selecciona todos</a:t>
                      </a:r>
                      <a:r>
                        <a:rPr lang="es-ES_tradnl" sz="1200" baseline="0" dirty="0">
                          <a:solidFill>
                            <a:schemeClr val="tx2"/>
                          </a:solidFill>
                        </a:rPr>
                        <a:t> los elementos con </a:t>
                      </a:r>
                      <a:r>
                        <a:rPr lang="es-ES_tradnl" sz="1200" baseline="0" dirty="0" err="1">
                          <a:solidFill>
                            <a:schemeClr val="tx2"/>
                          </a:solidFill>
                        </a:rPr>
                        <a:t>class</a:t>
                      </a:r>
                      <a:r>
                        <a:rPr lang="es-ES_tradnl" sz="1200" baseline="0" dirty="0">
                          <a:solidFill>
                            <a:schemeClr val="tx2"/>
                          </a:solidFill>
                        </a:rPr>
                        <a:t>=“introducción”</a:t>
                      </a:r>
                      <a:endParaRPr lang="es-ES" sz="1200" dirty="0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dirty="0"/>
                        <a:t>#id</a:t>
                      </a:r>
                      <a:endParaRPr lang="es-ES" sz="1400" b="1" dirty="0"/>
                    </a:p>
                  </a:txBody>
                  <a:tcPr marT="34290" marB="3429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>
                          <a:solidFill>
                            <a:schemeClr val="tx2"/>
                          </a:solidFill>
                        </a:rPr>
                        <a:t>#apellido</a:t>
                      </a:r>
                      <a:endParaRPr lang="es-ES" sz="1200" dirty="0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0" algn="l" defTabSz="457200" rtl="0" eaLnBrk="1" latinLnBrk="0" hangingPunct="1"/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Selecciona el elemento con id=“apellido”</a:t>
                      </a:r>
                      <a:endParaRPr lang="es-E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dirty="0"/>
                        <a:t>elemento</a:t>
                      </a:r>
                      <a:endParaRPr lang="es-ES" sz="1400" b="1" dirty="0"/>
                    </a:p>
                  </a:txBody>
                  <a:tcPr marT="34290" marB="3429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>
                          <a:solidFill>
                            <a:schemeClr val="tx2"/>
                          </a:solidFill>
                        </a:rPr>
                        <a:t>p</a:t>
                      </a:r>
                      <a:endParaRPr lang="es-ES" sz="1200" dirty="0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0" algn="l" defTabSz="457200" rtl="0" eaLnBrk="1" latinLnBrk="0" hangingPunct="1"/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Selecciona todos los elementos &lt;p&gt;</a:t>
                      </a:r>
                      <a:endParaRPr lang="es-E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dirty="0"/>
                        <a:t>elemento1, elemento2</a:t>
                      </a:r>
                      <a:endParaRPr lang="es-ES" sz="1400" b="1" dirty="0"/>
                    </a:p>
                  </a:txBody>
                  <a:tcPr marT="34290" marB="3429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 err="1">
                          <a:solidFill>
                            <a:schemeClr val="tx2"/>
                          </a:solidFill>
                        </a:rPr>
                        <a:t>div</a:t>
                      </a:r>
                      <a:r>
                        <a:rPr lang="es-ES_tradnl" sz="1200" dirty="0">
                          <a:solidFill>
                            <a:schemeClr val="tx2"/>
                          </a:solidFill>
                        </a:rPr>
                        <a:t>, p</a:t>
                      </a:r>
                      <a:endParaRPr lang="es-ES" sz="1200" dirty="0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0" algn="l" defTabSz="457200" rtl="0" eaLnBrk="1" latinLnBrk="0" hangingPunct="1"/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Selecciona todos los elementos &lt;</a:t>
                      </a:r>
                      <a:r>
                        <a:rPr lang="es-ES_tradnl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div</a:t>
                      </a:r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&gt; y &lt;p&gt;</a:t>
                      </a:r>
                      <a:endParaRPr lang="es-E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dirty="0"/>
                        <a:t>elemento </a:t>
                      </a:r>
                      <a:r>
                        <a:rPr lang="es-ES_tradnl" sz="1400" b="1" dirty="0" err="1"/>
                        <a:t>elemento</a:t>
                      </a:r>
                      <a:endParaRPr lang="es-ES" sz="1400" b="1" dirty="0"/>
                    </a:p>
                  </a:txBody>
                  <a:tcPr marT="34290" marB="3429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 err="1">
                          <a:solidFill>
                            <a:schemeClr val="tx2"/>
                          </a:solidFill>
                        </a:rPr>
                        <a:t>div</a:t>
                      </a:r>
                      <a:r>
                        <a:rPr lang="es-ES_tradnl" sz="1200" dirty="0">
                          <a:solidFill>
                            <a:schemeClr val="tx2"/>
                          </a:solidFill>
                        </a:rPr>
                        <a:t> p</a:t>
                      </a:r>
                      <a:endParaRPr lang="es-ES" sz="1200" dirty="0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0" algn="l" defTabSz="457200" rtl="0" eaLnBrk="1" latinLnBrk="0" hangingPunct="1"/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Selecciona todos los elementos &lt;p&gt; que estén dentro de elementos &lt;</a:t>
                      </a:r>
                      <a:r>
                        <a:rPr lang="es-ES_tradnl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div</a:t>
                      </a:r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s-E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dirty="0"/>
                        <a:t>:</a:t>
                      </a:r>
                      <a:r>
                        <a:rPr lang="es-ES_tradnl" sz="1400" b="1" dirty="0" err="1"/>
                        <a:t>first-letter</a:t>
                      </a:r>
                      <a:endParaRPr lang="es-ES" sz="1400" b="1" dirty="0"/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>
                          <a:solidFill>
                            <a:schemeClr val="tx2"/>
                          </a:solidFill>
                        </a:rPr>
                        <a:t>p:first-letter</a:t>
                      </a:r>
                      <a:endParaRPr lang="es-ES" sz="1200" dirty="0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0" algn="l" defTabSz="457200" rtl="0" eaLnBrk="1" latinLnBrk="0" hangingPunct="1"/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Selecciona la primera letra de cada elemento &lt;p&gt;</a:t>
                      </a:r>
                      <a:endParaRPr lang="es-E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_tradnl" sz="1400" b="1" dirty="0"/>
                        <a:t>:</a:t>
                      </a:r>
                      <a:r>
                        <a:rPr lang="es-ES_tradnl" sz="1400" b="1" dirty="0" err="1"/>
                        <a:t>first</a:t>
                      </a:r>
                      <a:r>
                        <a:rPr lang="es-ES_tradnl" sz="1400" b="1" dirty="0"/>
                        <a:t>-line</a:t>
                      </a:r>
                      <a:endParaRPr lang="es-ES" sz="1400" b="1" dirty="0"/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 err="1">
                          <a:solidFill>
                            <a:schemeClr val="tx2"/>
                          </a:solidFill>
                        </a:rPr>
                        <a:t>p:first-line</a:t>
                      </a:r>
                      <a:endParaRPr lang="es-ES" sz="1200" dirty="0" err="1">
                        <a:solidFill>
                          <a:schemeClr val="tx2"/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0" algn="l" defTabSz="457200" rtl="0" eaLnBrk="1" latinLnBrk="0" hangingPunct="1"/>
                      <a:r>
                        <a:rPr lang="es-ES_tradnl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Selecciona la primera línea de cada elemento &lt;p&gt;</a:t>
                      </a:r>
                      <a:endParaRPr lang="es-E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algn="l"/>
                      <a:r>
                        <a:rPr lang="es-ES" sz="1400" b="1" dirty="0"/>
                        <a:t>[atributo*=valor]</a:t>
                      </a: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solidFill>
                            <a:schemeClr val="tx2"/>
                          </a:solidFill>
                        </a:rPr>
                        <a:t>[</a:t>
                      </a:r>
                      <a:r>
                        <a:rPr lang="es-ES" sz="1200" dirty="0" err="1">
                          <a:solidFill>
                            <a:schemeClr val="tx2"/>
                          </a:solidFill>
                        </a:rPr>
                        <a:t>class</a:t>
                      </a:r>
                      <a:r>
                        <a:rPr lang="es-ES" sz="1200" dirty="0">
                          <a:solidFill>
                            <a:schemeClr val="tx2"/>
                          </a:solidFill>
                        </a:rPr>
                        <a:t>*=“col-”]</a:t>
                      </a: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0" algn="l" defTabSz="457200" rtl="0" eaLnBrk="1" latinLnBrk="0" hangingPunct="1"/>
                      <a:r>
                        <a:rPr lang="es-E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Selecciona los elementos cuyo atributo </a:t>
                      </a:r>
                      <a:r>
                        <a:rPr lang="es-E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class</a:t>
                      </a:r>
                      <a:r>
                        <a:rPr lang="es-E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empieza por col-</a:t>
                      </a: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5877C2C6-F6D9-D7DC-21BB-8BF0C178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6 TAREA 01: Uso de selectores (</a:t>
            </a:r>
            <a:r>
              <a:rPr lang="es-ES" b="1" dirty="0">
                <a:hlinkClick r:id="rId2"/>
              </a:rPr>
              <a:t>w3</a:t>
            </a:r>
            <a:r>
              <a:rPr lang="es-ES" b="1" dirty="0"/>
              <a:t>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958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AB25C-D832-0B00-D4E2-5FB6DC7A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6 SELECTORES CSS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1D298B-01F2-7C2A-0A79-A643D8E7C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71" y="717406"/>
            <a:ext cx="7874002" cy="4745223"/>
          </a:xfrm>
        </p:spPr>
        <p:txBody>
          <a:bodyPr/>
          <a:lstStyle/>
          <a:p>
            <a:r>
              <a:rPr lang="es-ES" dirty="0" err="1"/>
              <a:t>Pseudo-selectores</a:t>
            </a:r>
            <a:endParaRPr lang="es-ES" dirty="0"/>
          </a:p>
          <a:p>
            <a:pPr lvl="1"/>
            <a:r>
              <a:rPr lang="es-ES" dirty="0"/>
              <a:t>Seleccionar</a:t>
            </a:r>
            <a:r>
              <a:rPr lang="es-ES" baseline="0" dirty="0"/>
              <a:t> elementos según la interacción con el usuario</a:t>
            </a:r>
          </a:p>
          <a:p>
            <a:pPr marL="1052513" lvl="2" indent="-285750">
              <a:defRPr/>
            </a:pPr>
            <a:r>
              <a:rPr lang="es-ES_tradnl" b="1" i="1" dirty="0" err="1">
                <a:solidFill>
                  <a:srgbClr val="00B050"/>
                </a:solidFill>
              </a:rPr>
              <a:t>Pseudo-clases</a:t>
            </a:r>
            <a:r>
              <a:rPr lang="es-ES_tradnl" b="1" i="1" dirty="0">
                <a:solidFill>
                  <a:srgbClr val="00B050"/>
                </a:solidFill>
              </a:rPr>
              <a:t> de vínculo </a:t>
            </a:r>
            <a:r>
              <a:rPr lang="es-ES_tradnl" i="1" dirty="0">
                <a:solidFill>
                  <a:srgbClr val="00B050"/>
                </a:solidFill>
                <a:sym typeface="Wingdings" pitchFamily="2" charset="2"/>
              </a:rPr>
              <a:t> link, </a:t>
            </a:r>
            <a:r>
              <a:rPr lang="es-ES_tradnl" i="1" dirty="0" err="1">
                <a:solidFill>
                  <a:srgbClr val="00B050"/>
                </a:solidFill>
                <a:sym typeface="Wingdings" pitchFamily="2" charset="2"/>
              </a:rPr>
              <a:t>visited</a:t>
            </a:r>
            <a:r>
              <a:rPr lang="es-ES_tradnl" i="1" dirty="0">
                <a:solidFill>
                  <a:srgbClr val="00B050"/>
                </a:solidFill>
                <a:sym typeface="Wingdings" pitchFamily="2" charset="2"/>
              </a:rPr>
              <a:t>, active </a:t>
            </a:r>
            <a:r>
              <a:rPr lang="es-ES_tradnl" dirty="0">
                <a:solidFill>
                  <a:srgbClr val="00B050"/>
                </a:solidFill>
                <a:sym typeface="Wingdings" pitchFamily="2" charset="2"/>
              </a:rPr>
              <a:t>y </a:t>
            </a:r>
            <a:r>
              <a:rPr lang="es-ES_tradnl" i="1" dirty="0" err="1">
                <a:solidFill>
                  <a:srgbClr val="00B050"/>
                </a:solidFill>
                <a:sym typeface="Wingdings" pitchFamily="2" charset="2"/>
              </a:rPr>
              <a:t>hover</a:t>
            </a:r>
            <a:endParaRPr lang="es-ES_tradnl" i="1" dirty="0">
              <a:solidFill>
                <a:srgbClr val="00B050"/>
              </a:solidFill>
            </a:endParaRPr>
          </a:p>
          <a:p>
            <a:pPr marL="1681163" lvl="4" indent="0">
              <a:buNone/>
              <a:defRPr/>
            </a:pPr>
            <a:r>
              <a:rPr lang="es-ES" sz="1600" dirty="0">
                <a:solidFill>
                  <a:srgbClr val="00B050"/>
                </a:solidFill>
              </a:rPr>
              <a:t>a:visited { color: blue } 	/* </a:t>
            </a:r>
            <a:r>
              <a:rPr lang="es-ES_tradnl" sz="1600" dirty="0">
                <a:solidFill>
                  <a:srgbClr val="00B050"/>
                </a:solidFill>
              </a:rPr>
              <a:t>hiperenlaces </a:t>
            </a:r>
            <a:r>
              <a:rPr lang="es-ES" sz="1600" dirty="0">
                <a:solidFill>
                  <a:srgbClr val="00B050"/>
                </a:solidFill>
              </a:rPr>
              <a:t>visitados */ </a:t>
            </a:r>
          </a:p>
          <a:p>
            <a:pPr marL="1681163" lvl="4" indent="0">
              <a:buNone/>
              <a:defRPr/>
            </a:pPr>
            <a:r>
              <a:rPr lang="es-ES_tradnl" sz="1600" dirty="0">
                <a:solidFill>
                  <a:srgbClr val="00B050"/>
                </a:solidFill>
              </a:rPr>
              <a:t>a:hover {color: </a:t>
            </a:r>
            <a:r>
              <a:rPr lang="es-ES_tradnl" sz="1600" dirty="0" err="1">
                <a:solidFill>
                  <a:srgbClr val="00B050"/>
                </a:solidFill>
              </a:rPr>
              <a:t>black</a:t>
            </a:r>
            <a:r>
              <a:rPr lang="es-ES_tradnl" sz="1600" dirty="0">
                <a:solidFill>
                  <a:srgbClr val="00B050"/>
                </a:solidFill>
              </a:rPr>
              <a:t>}	/* hiperenlaces con el ratón encima */</a:t>
            </a:r>
          </a:p>
          <a:p>
            <a:pPr rtl="0" eaLnBrk="1" latinLnBrk="0" hangingPunct="1"/>
            <a:endParaRPr lang="es-ES" sz="1800" kern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latinLnBrk="0" hangingPunct="1"/>
            <a:r>
              <a:rPr lang="es-ES" dirty="0" err="1"/>
              <a:t>Pseudo-elementos</a:t>
            </a:r>
            <a:endParaRPr lang="es-ES" dirty="0"/>
          </a:p>
          <a:p>
            <a:pPr lvl="1"/>
            <a:r>
              <a:rPr lang="es-ES" dirty="0"/>
              <a:t>Componentes no definidos en HTML pero seleccionables en relación con otros</a:t>
            </a:r>
          </a:p>
          <a:p>
            <a:pPr lvl="2"/>
            <a:r>
              <a:rPr lang="es-ES" dirty="0" err="1">
                <a:solidFill>
                  <a:srgbClr val="00B050"/>
                </a:solidFill>
              </a:rPr>
              <a:t>First</a:t>
            </a:r>
            <a:r>
              <a:rPr lang="es-ES" dirty="0">
                <a:solidFill>
                  <a:srgbClr val="00B050"/>
                </a:solidFill>
              </a:rPr>
              <a:t>-line o </a:t>
            </a:r>
            <a:r>
              <a:rPr lang="es-ES" dirty="0" err="1">
                <a:solidFill>
                  <a:srgbClr val="00B050"/>
                </a:solidFill>
              </a:rPr>
              <a:t>first-letter</a:t>
            </a:r>
            <a:endParaRPr lang="es-ES" dirty="0">
              <a:solidFill>
                <a:srgbClr val="00B050"/>
              </a:solidFill>
            </a:endParaRPr>
          </a:p>
          <a:p>
            <a:pPr marL="1371600" lvl="3" indent="0">
              <a:buNone/>
            </a:pPr>
            <a:r>
              <a:rPr lang="es-ES" dirty="0">
                <a:solidFill>
                  <a:srgbClr val="00B050"/>
                </a:solidFill>
              </a:rPr>
              <a:t>p:first-line { </a:t>
            </a:r>
            <a:r>
              <a:rPr lang="es-ES" dirty="0" err="1">
                <a:solidFill>
                  <a:srgbClr val="00B050"/>
                </a:solidFill>
              </a:rPr>
              <a:t>font-variant</a:t>
            </a:r>
            <a:r>
              <a:rPr lang="es-ES" dirty="0">
                <a:solidFill>
                  <a:srgbClr val="00B050"/>
                </a:solidFill>
              </a:rPr>
              <a:t>: </a:t>
            </a:r>
            <a:r>
              <a:rPr lang="es-ES" dirty="0" err="1">
                <a:solidFill>
                  <a:srgbClr val="00B050"/>
                </a:solidFill>
              </a:rPr>
              <a:t>small-caps</a:t>
            </a:r>
            <a:r>
              <a:rPr lang="es-ES" dirty="0">
                <a:solidFill>
                  <a:srgbClr val="00B050"/>
                </a:solidFill>
              </a:rPr>
              <a:t> } /* aplicado a la primera línea de los párrafos*/</a:t>
            </a:r>
            <a:endParaRPr lang="es-ES_tradnl" sz="1600" dirty="0">
              <a:solidFill>
                <a:srgbClr val="00B050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7863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hlinkClick r:id="rId2"/>
            <a:extLst>
              <a:ext uri="{FF2B5EF4-FFF2-40B4-BE49-F238E27FC236}">
                <a16:creationId xmlns:a16="http://schemas.microsoft.com/office/drawing/2014/main" id="{46230BF6-F4BD-FA3B-7489-14236E1FB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6478" y="1387907"/>
            <a:ext cx="3119308" cy="130531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02FB1A-4EAF-F268-551D-C8470DCA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REFERENCIA MÍNIMA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123A9-568A-3A45-B5F3-520B2ED38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65" y="788578"/>
            <a:ext cx="8313683" cy="6069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b="1" i="1" dirty="0">
                <a:solidFill>
                  <a:srgbClr val="FF0000"/>
                </a:solidFill>
              </a:rPr>
              <a:t>Propiedades que debemos conocer: la primera página de la</a:t>
            </a:r>
          </a:p>
          <a:p>
            <a:r>
              <a:rPr lang="es-ES" b="1" i="1" dirty="0">
                <a:solidFill>
                  <a:srgbClr val="FF0000"/>
                </a:solidFill>
                <a:hlinkClick r:id="rId4"/>
              </a:rPr>
              <a:t>Chuleta</a:t>
            </a:r>
            <a:r>
              <a:rPr lang="es-ES" b="1" i="1" dirty="0">
                <a:solidFill>
                  <a:srgbClr val="FF0000"/>
                </a:solidFill>
              </a:rPr>
              <a:t> importante: puntos amarillos</a:t>
            </a:r>
          </a:p>
          <a:p>
            <a:r>
              <a:rPr lang="es-ES" dirty="0"/>
              <a:t>Texto</a:t>
            </a:r>
          </a:p>
          <a:p>
            <a:pPr marL="742950" marR="0" lvl="1" indent="-28575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dirty="0"/>
              <a:t>/* color del texto*/</a:t>
            </a:r>
          </a:p>
          <a:p>
            <a:pPr marL="857250" lvl="2" indent="0">
              <a:buNone/>
              <a:defRPr/>
            </a:pPr>
            <a:r>
              <a:rPr lang="es-ES" dirty="0">
                <a:solidFill>
                  <a:srgbClr val="00B050"/>
                </a:solidFill>
              </a:rPr>
              <a:t>color: red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marL="742950" marR="0" lvl="1" indent="-28575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/* tipo de fuente */</a:t>
            </a:r>
            <a:endParaRPr lang="es-ES" dirty="0"/>
          </a:p>
          <a:p>
            <a:pPr marL="857250" lvl="2" indent="0">
              <a:buNone/>
            </a:pP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font-family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es-ES" dirty="0">
                <a:solidFill>
                  <a:srgbClr val="00B050"/>
                </a:solidFill>
              </a:rPr>
              <a:t>Times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 New </a:t>
            </a: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Roman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es-ES" dirty="0" err="1">
                <a:solidFill>
                  <a:srgbClr val="00B050"/>
                </a:solidFill>
              </a:rPr>
              <a:t>TImes</a:t>
            </a:r>
            <a:r>
              <a:rPr lang="es-ES" dirty="0">
                <a:solidFill>
                  <a:srgbClr val="00B050"/>
                </a:solidFill>
              </a:rPr>
              <a:t>, </a:t>
            </a:r>
            <a:r>
              <a:rPr lang="es-ES" dirty="0" err="1">
                <a:solidFill>
                  <a:srgbClr val="00B050"/>
                </a:solidFill>
              </a:rPr>
              <a:t>serif</a:t>
            </a:r>
            <a:r>
              <a:rPr lang="es-ES" dirty="0">
                <a:solidFill>
                  <a:srgbClr val="00B050"/>
                </a:solidFill>
              </a:rPr>
              <a:t>;</a:t>
            </a:r>
          </a:p>
          <a:p>
            <a:pPr marL="742950" marR="0" lvl="1" indent="-28575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/* tamaño de la fuente */</a:t>
            </a:r>
            <a:endParaRPr lang="es-ES" dirty="0"/>
          </a:p>
          <a:p>
            <a:pPr marL="857250" lvl="2" indent="0">
              <a:buNone/>
            </a:pP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font-size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: 2em;</a:t>
            </a:r>
          </a:p>
          <a:p>
            <a:pPr marL="742950" marR="0" lvl="1" indent="-28575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/* grosor del tipo de letra → Posibles: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bold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bolder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lighter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*/</a:t>
            </a:r>
          </a:p>
          <a:p>
            <a:pPr marL="857250" lvl="2" indent="0">
              <a:buNone/>
            </a:pP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font-weight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bold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742950" marR="0" lvl="1" indent="-28575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/* alineación texto → Posibles: 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center,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left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justify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*/</a:t>
            </a:r>
            <a:endParaRPr lang="es-ES" dirty="0"/>
          </a:p>
          <a:p>
            <a:pPr marL="857250" lvl="2" indent="0">
              <a:buNone/>
            </a:pP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text-align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ES" b="1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center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742950" marR="0" lvl="1" indent="-28575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/* decoración de texto → Posibles: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underline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overline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none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line-</a:t>
            </a:r>
            <a:r>
              <a:rPr lang="es-ES" sz="1600" b="1" i="1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*/</a:t>
            </a:r>
            <a:endParaRPr lang="es-ES" dirty="0"/>
          </a:p>
          <a:p>
            <a:pPr marL="857250" lvl="2" indent="0">
              <a:buNone/>
            </a:pP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text-decoration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ES" b="0" i="0" kern="1200" dirty="0" err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underline</a:t>
            </a:r>
            <a:r>
              <a:rPr lang="es-ES" b="0" i="0" kern="1200" dirty="0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742950" marR="0" lvl="1" indent="-28575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/* line-</a:t>
            </a:r>
            <a:r>
              <a:rPr lang="es-ES" sz="1600" b="0" i="1" kern="1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height</a:t>
            </a: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ES" sz="1600" b="1" i="1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medidas absolutas o relativas (INTERLINEADO) </a:t>
            </a:r>
            <a:r>
              <a:rPr lang="es-ES" sz="16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*/</a:t>
            </a:r>
            <a:endParaRPr lang="es-ES" dirty="0"/>
          </a:p>
          <a:p>
            <a:pPr marL="857250" lvl="2" indent="0">
              <a:buNone/>
            </a:pPr>
            <a:endParaRPr lang="es-ES" b="0" i="0" kern="1200" dirty="0">
              <a:solidFill>
                <a:srgbClr val="00B050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142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7D86B-7098-F7EF-14C6-D6F850B0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85"/>
            <a:ext cx="8009681" cy="649357"/>
          </a:xfrm>
        </p:spPr>
        <p:txBody>
          <a:bodyPr>
            <a:normAutofit fontScale="90000"/>
          </a:bodyPr>
          <a:lstStyle/>
          <a:p>
            <a:r>
              <a:rPr lang="es-ES" dirty="0"/>
              <a:t>REFERENCIA MÍNIMA </a:t>
            </a:r>
            <a:r>
              <a:rPr lang="es-ES" dirty="0">
                <a:solidFill>
                  <a:srgbClr val="FF0000"/>
                </a:solidFill>
              </a:rPr>
              <a:t>TA 02: Batería de estilos de prueba</a:t>
            </a:r>
            <a:br>
              <a:rPr lang="es-ES" dirty="0"/>
            </a:b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D69EED-9A3E-7AB0-E501-CEDE318F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Fondo</a:t>
            </a:r>
          </a:p>
          <a:p>
            <a:pPr lvl="1"/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body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{ 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background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: grey;}</a:t>
            </a:r>
            <a:endParaRPr lang="es-ES" dirty="0"/>
          </a:p>
          <a:p>
            <a:r>
              <a:rPr lang="es-ES" dirty="0"/>
              <a:t>Dimensiones</a:t>
            </a:r>
          </a:p>
          <a:p>
            <a:pPr lvl="1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#first { 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width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: 50%;}</a:t>
            </a:r>
          </a:p>
          <a:p>
            <a:pPr lvl="1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#second { 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width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: 600px;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height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400px;}</a:t>
            </a:r>
          </a:p>
          <a:p>
            <a:pPr lvl="0"/>
            <a:r>
              <a:rPr lang="es-ES" dirty="0"/>
              <a:t>Bordes</a:t>
            </a:r>
          </a:p>
          <a:p>
            <a:pPr lvl="0"/>
            <a:r>
              <a:rPr lang="es-ES" dirty="0"/>
              <a:t>Listas</a:t>
            </a:r>
          </a:p>
          <a:p>
            <a:r>
              <a:rPr lang="es-ES" dirty="0" err="1"/>
              <a:t>Margin</a:t>
            </a:r>
            <a:r>
              <a:rPr lang="es-ES" dirty="0"/>
              <a:t> y </a:t>
            </a:r>
            <a:r>
              <a:rPr lang="es-ES" dirty="0" err="1"/>
              <a:t>padding</a:t>
            </a:r>
            <a:endParaRPr lang="es-ES" dirty="0"/>
          </a:p>
          <a:p>
            <a:r>
              <a:rPr lang="es-ES" dirty="0"/>
              <a:t>(se verán en la </a:t>
            </a:r>
            <a:r>
              <a:rPr lang="es-ES" dirty="0" err="1"/>
              <a:t>seguna</a:t>
            </a:r>
            <a:r>
              <a:rPr lang="es-ES" dirty="0"/>
              <a:t> parte: MAQUETACIÓN - caja CSS)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013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2FB1A-4EAF-F268-551D-C8470DCA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REFERENCIA MÍNIMA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123A9-568A-3A45-B5F3-520B2ED38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1" dirty="0">
                <a:solidFill>
                  <a:srgbClr val="FF0000"/>
                </a:solidFill>
              </a:rPr>
              <a:t>Propiedades que debemos conocer</a:t>
            </a:r>
          </a:p>
          <a:p>
            <a:r>
              <a:rPr lang="es-ES" b="1" dirty="0"/>
              <a:t>Márgenes (</a:t>
            </a:r>
            <a:r>
              <a:rPr lang="es-ES" b="1" dirty="0" err="1"/>
              <a:t>Paddings</a:t>
            </a:r>
            <a:r>
              <a:rPr lang="es-ES" b="1" dirty="0"/>
              <a:t>) Bordes (</a:t>
            </a:r>
            <a:r>
              <a:rPr lang="es-ES" b="1" dirty="0">
                <a:hlinkClick r:id="rId2"/>
              </a:rPr>
              <a:t>regla del reloj</a:t>
            </a:r>
            <a:r>
              <a:rPr lang="es-ES" b="1" dirty="0"/>
              <a:t>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7A323B-E2C8-8F2A-3AEC-28989D453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16" y="2257254"/>
            <a:ext cx="2445169" cy="28749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471DF57-F047-360F-7938-7615550C3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830" y="2848745"/>
            <a:ext cx="3190985" cy="22053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2BF2220-ED41-516D-0B44-208CE96C2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922" y="940328"/>
            <a:ext cx="3021406" cy="12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18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915E-1A5A-BF1A-7F34-43683338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7.1 INTRODUCCIÓN</a:t>
            </a:r>
            <a:r>
              <a:rPr lang="es-ES" baseline="0" dirty="0"/>
              <a:t> A LA MAQUETACION WEB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34A209-61D6-BA7F-B22A-14D774E51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474374"/>
            <a:ext cx="5302367" cy="4410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Hemos aprendido a crear reglas CSS, seleccionamos elementos y aplicamos </a:t>
            </a:r>
            <a:r>
              <a:rPr lang="es-ES"/>
              <a:t>propiedades, pero:</a:t>
            </a:r>
            <a:endParaRPr lang="es-ES" dirty="0"/>
          </a:p>
          <a:p>
            <a:r>
              <a:rPr lang="es-ES" dirty="0"/>
              <a:t>¿Cómo los movemos?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0213F4-1D61-13EB-3411-ADF769D4E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400" y="1823744"/>
            <a:ext cx="6089638" cy="478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28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8BF7-52B8-0C49-6909-65CC74B9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F0D7C-1489-B443-ABF2-69B5A3E8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7.1 INTRODUCCIÓN</a:t>
            </a:r>
            <a:r>
              <a:rPr lang="es-ES" baseline="0" dirty="0"/>
              <a:t> A LA MAQUETACION WEB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DF5850-FC1F-C5E6-1C76-AE455FF96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41" y="1634078"/>
            <a:ext cx="6395255" cy="4410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Hasta ahora, el flujo natural del </a:t>
            </a:r>
            <a:r>
              <a:rPr lang="es-ES" dirty="0" err="1"/>
              <a:t>html</a:t>
            </a:r>
            <a:r>
              <a:rPr lang="es-ES" dirty="0"/>
              <a:t> sitúa los elementos, teniendo únicamente en cuenta si son en línea o en bloque.</a:t>
            </a:r>
          </a:p>
          <a:p>
            <a:pPr marL="285750" indent="-285750">
              <a:buFont typeface="Arial" charset="2"/>
              <a:buChar char="•"/>
            </a:pPr>
            <a:r>
              <a:rPr lang="es-ES" dirty="0"/>
              <a:t>¿Podemos ajustar la separación entre los elementos?</a:t>
            </a:r>
          </a:p>
          <a:p>
            <a:pPr marL="742950" lvl="1" indent="-285750">
              <a:buFont typeface="Courier New" charset="2"/>
              <a:buChar char="o"/>
            </a:pPr>
            <a:r>
              <a:rPr lang="es-ES" dirty="0">
                <a:solidFill>
                  <a:srgbClr val="2E83C3"/>
                </a:solidFill>
              </a:rPr>
              <a:t>Sí, con la </a:t>
            </a:r>
            <a:r>
              <a:rPr lang="es-ES" dirty="0">
                <a:solidFill>
                  <a:srgbClr val="FF0000"/>
                </a:solidFill>
              </a:rPr>
              <a:t>caja CSS: </a:t>
            </a:r>
            <a:r>
              <a:rPr lang="es-ES" dirty="0" err="1">
                <a:solidFill>
                  <a:srgbClr val="FF0000"/>
                </a:solidFill>
              </a:rPr>
              <a:t>margin</a:t>
            </a:r>
            <a:r>
              <a:rPr lang="es-ES" dirty="0">
                <a:solidFill>
                  <a:srgbClr val="FF0000"/>
                </a:solidFill>
              </a:rPr>
              <a:t> y </a:t>
            </a:r>
            <a:r>
              <a:rPr lang="es-ES" dirty="0" err="1">
                <a:solidFill>
                  <a:srgbClr val="FF0000"/>
                </a:solidFill>
              </a:rPr>
              <a:t>padding</a:t>
            </a:r>
            <a:endParaRPr lang="es-ES" dirty="0">
              <a:solidFill>
                <a:srgbClr val="FF0000"/>
              </a:solidFill>
            </a:endParaRPr>
          </a:p>
          <a:p>
            <a:pPr marL="285750" indent="-285750">
              <a:buFont typeface="Arial" charset="2"/>
              <a:buChar char="•"/>
            </a:pPr>
            <a:r>
              <a:rPr lang="es-ES" dirty="0"/>
              <a:t>¿Podemos variar el comportamiento natural del flujo?</a:t>
            </a:r>
          </a:p>
          <a:p>
            <a:pPr marL="742950" lvl="1" indent="-285750">
              <a:buFont typeface="Courier New" charset="2"/>
              <a:buChar char="o"/>
            </a:pPr>
            <a:r>
              <a:rPr lang="es-ES" dirty="0">
                <a:solidFill>
                  <a:srgbClr val="2E83C3"/>
                </a:solidFill>
              </a:rPr>
              <a:t>Sí, con la propiedad </a:t>
            </a:r>
            <a:r>
              <a:rPr lang="es-ES" dirty="0">
                <a:solidFill>
                  <a:srgbClr val="FF0000"/>
                </a:solidFill>
              </a:rPr>
              <a:t>position</a:t>
            </a:r>
          </a:p>
          <a:p>
            <a:pPr marL="285750" indent="-285750">
              <a:buFont typeface="Arial" charset="2"/>
              <a:buChar char="•"/>
            </a:pPr>
            <a:r>
              <a:rPr lang="es-ES" dirty="0"/>
              <a:t>Otras estrategias facilitan la maquetación</a:t>
            </a:r>
          </a:p>
          <a:p>
            <a:pPr marL="742950" lvl="1" indent="-285750">
              <a:buFont typeface="Courier New" charset="2"/>
              <a:buChar char="o"/>
            </a:pPr>
            <a:r>
              <a:rPr lang="es-ES" dirty="0">
                <a:solidFill>
                  <a:srgbClr val="2E83C3"/>
                </a:solidFill>
              </a:rPr>
              <a:t>Flex box</a:t>
            </a:r>
          </a:p>
          <a:p>
            <a:pPr marL="742950" lvl="1" indent="-285750">
              <a:buFont typeface="Courier New" charset="2"/>
              <a:buChar char="o"/>
            </a:pPr>
            <a:r>
              <a:rPr lang="es-ES" dirty="0" err="1">
                <a:solidFill>
                  <a:srgbClr val="2E83C3"/>
                </a:solidFill>
              </a:rPr>
              <a:t>Grid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78D704-F4CF-9B64-4C03-C0B4F0CB3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033" y="134300"/>
            <a:ext cx="1832620" cy="143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34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4D3DD-F6F5-316E-4409-126A6814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7.1 CAJA CSS</a:t>
            </a:r>
          </a:p>
        </p:txBody>
      </p:sp>
      <p:pic>
        <p:nvPicPr>
          <p:cNvPr id="4" name="Marcador de contenido 3" descr="Diagrama&#10;&#10;Descripción generada automáticamente">
            <a:extLst>
              <a:ext uri="{FF2B5EF4-FFF2-40B4-BE49-F238E27FC236}">
                <a16:creationId xmlns:a16="http://schemas.microsoft.com/office/drawing/2014/main" id="{D3B41104-6754-53F5-7C6F-4A178DF3C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846290" y="2215507"/>
            <a:ext cx="6917241" cy="4411663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76ABA4-3D83-9813-75F4-91E0766EF34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1023" y="870493"/>
            <a:ext cx="7653338" cy="47466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1600" dirty="0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Ejemplo apuntes</a:t>
            </a:r>
            <a:endParaRPr lang="es-ES" sz="1600" dirty="0">
              <a:solidFill>
                <a:srgbClr val="00B050"/>
              </a:solidFill>
            </a:endParaRPr>
          </a:p>
          <a:p>
            <a:pPr algn="ctr"/>
            <a:r>
              <a:rPr lang="es-ES" sz="1600" dirty="0">
                <a:solidFill>
                  <a:srgbClr val="00B050"/>
                </a:solidFill>
                <a:hlinkClick r:id="rId4"/>
              </a:rPr>
              <a:t>Ejemplo 10: caja CSS</a:t>
            </a:r>
            <a:endParaRPr lang="es-ES" sz="1600" dirty="0">
              <a:solidFill>
                <a:srgbClr val="00B050"/>
              </a:solidFill>
            </a:endParaRPr>
          </a:p>
          <a:p>
            <a:r>
              <a:rPr lang="es-ES" dirty="0">
                <a:solidFill>
                  <a:schemeClr val="tx2"/>
                </a:solidFill>
              </a:rPr>
              <a:t>El color de fondo del contenido y el </a:t>
            </a:r>
            <a:r>
              <a:rPr lang="es-ES" dirty="0" err="1">
                <a:solidFill>
                  <a:schemeClr val="tx2"/>
                </a:solidFill>
              </a:rPr>
              <a:t>padding</a:t>
            </a:r>
            <a:r>
              <a:rPr lang="es-ES" dirty="0">
                <a:solidFill>
                  <a:schemeClr val="tx2"/>
                </a:solidFill>
              </a:rPr>
              <a:t> (RELLENO) son iguales</a:t>
            </a:r>
          </a:p>
          <a:p>
            <a:r>
              <a:rPr lang="es-ES" dirty="0">
                <a:solidFill>
                  <a:schemeClr val="tx2"/>
                </a:solidFill>
              </a:rPr>
              <a:t>El fondo del </a:t>
            </a:r>
            <a:r>
              <a:rPr lang="es-ES" dirty="0" err="1">
                <a:solidFill>
                  <a:schemeClr val="tx2"/>
                </a:solidFill>
              </a:rPr>
              <a:t>margin</a:t>
            </a:r>
            <a:r>
              <a:rPr lang="es-ES" dirty="0">
                <a:solidFill>
                  <a:schemeClr val="tx2"/>
                </a:solidFill>
              </a:rPr>
              <a:t> es transparente (aquí es rosa para que se vea)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50913E9-6743-C042-310F-8C7445C6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310" y="399185"/>
            <a:ext cx="2406362" cy="936914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9D9BBE6-FF6E-43BB-C9F4-B088C76A1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244" y="574428"/>
            <a:ext cx="4010892" cy="108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90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9DCC-C701-BBA8-BCF8-8376D60D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12014-F9ED-4D28-F126-020EE8E7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REFERENCIA MÍNIMA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DA5BF-A311-6A5A-39B0-7499B5531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1" dirty="0">
                <a:solidFill>
                  <a:srgbClr val="FF0000"/>
                </a:solidFill>
              </a:rPr>
              <a:t>Propiedades que debemos conocer</a:t>
            </a:r>
          </a:p>
          <a:p>
            <a:r>
              <a:rPr lang="es-ES" b="1" dirty="0"/>
              <a:t>Márgenes (</a:t>
            </a:r>
            <a:r>
              <a:rPr lang="es-ES" b="1" dirty="0" err="1"/>
              <a:t>Paddings</a:t>
            </a:r>
            <a:r>
              <a:rPr lang="es-ES" b="1" dirty="0"/>
              <a:t>) Bordes (</a:t>
            </a:r>
            <a:r>
              <a:rPr lang="es-ES" b="1" dirty="0">
                <a:hlinkClick r:id="rId2"/>
              </a:rPr>
              <a:t>regla del reloj</a:t>
            </a:r>
            <a:r>
              <a:rPr lang="es-ES" b="1" dirty="0"/>
              <a:t>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CC8B98-0CD3-C283-0CC8-62140D37F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51" y="1493663"/>
            <a:ext cx="3867356" cy="45452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4397DB3-329F-8438-9A7A-F7FDA7FC2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994" y="1770173"/>
            <a:ext cx="5195410" cy="3594164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CAA66A0F-5EF6-1002-06EE-7396DCCF394F}"/>
              </a:ext>
            </a:extLst>
          </p:cNvPr>
          <p:cNvCxnSpPr>
            <a:cxnSpLocks/>
          </p:cNvCxnSpPr>
          <p:nvPr/>
        </p:nvCxnSpPr>
        <p:spPr>
          <a:xfrm>
            <a:off x="2911366" y="4275448"/>
            <a:ext cx="908292" cy="176591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81CEF05-C5FE-AEA1-8CCD-E0BA108842C0}"/>
              </a:ext>
            </a:extLst>
          </p:cNvPr>
          <p:cNvSpPr txBox="1"/>
          <p:nvPr/>
        </p:nvSpPr>
        <p:spPr>
          <a:xfrm>
            <a:off x="3819658" y="6038917"/>
            <a:ext cx="262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Igual para PADDING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9DC629-ED53-EF13-C5F7-B98662819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355" y="86061"/>
            <a:ext cx="4119067" cy="168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07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915E-1A5A-BF1A-7F34-43683338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7.1 EN BLOQUE Y EN LÍNEA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0E90956-5C5B-5E9F-D563-EAC881969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6502" y="1296141"/>
            <a:ext cx="3655361" cy="2588012"/>
          </a:xfr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D3DC143-508E-B158-D9B6-F9C3C50CAA5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77466" y="4025880"/>
            <a:ext cx="7651750" cy="2292350"/>
          </a:xfrm>
        </p:spPr>
        <p:txBody>
          <a:bodyPr>
            <a:normAutofit/>
          </a:bodyPr>
          <a:lstStyle/>
          <a:p>
            <a:pPr marL="800100" marR="0" lvl="2" indent="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4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		En bloque								En línea</a:t>
            </a:r>
            <a:endParaRPr lang="es-ES" dirty="0">
              <a:effectLst/>
            </a:endParaRPr>
          </a:p>
          <a:p>
            <a:r>
              <a:rPr lang="es-ES" dirty="0">
                <a:solidFill>
                  <a:srgbClr val="00B050"/>
                </a:solidFill>
                <a:hlinkClick r:id="rId4"/>
              </a:rPr>
              <a:t>Ejemplo 11: cajas bloque vs línea</a:t>
            </a:r>
            <a:endParaRPr lang="es-ES" dirty="0">
              <a:solidFill>
                <a:srgbClr val="00B050"/>
              </a:solidFill>
            </a:endParaRPr>
          </a:p>
          <a:p>
            <a:r>
              <a:rPr lang="es-ES" dirty="0"/>
              <a:t>FLUJO en la pantalla</a:t>
            </a:r>
          </a:p>
          <a:p>
            <a:r>
              <a:rPr lang="es-ES" dirty="0"/>
              <a:t>Distintos elementos HTML se ordenan de distinta manera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AF362A-147A-D5F2-8FEC-B1FD51B114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8526" y="1296141"/>
            <a:ext cx="3669082" cy="258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82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915E-1A5A-BF1A-7F34-43683338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7.2 PROPIEDAD POSITION TAREA 03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F7ADF2-B040-3669-33C7-67C74BD27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50082"/>
            <a:ext cx="7527635" cy="6204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dirty="0"/>
              <a:t>Los elementos se</a:t>
            </a:r>
            <a:r>
              <a:rPr lang="es-ES" baseline="0" dirty="0"/>
              <a:t> ubican de </a:t>
            </a:r>
            <a:r>
              <a:rPr lang="es-ES" dirty="0"/>
              <a:t>diferentes maneras en relación con otros elementos o con la ventana del navegador (saliendo</a:t>
            </a:r>
            <a:r>
              <a:rPr lang="es-ES" baseline="0" dirty="0"/>
              <a:t> del flujo </a:t>
            </a:r>
            <a:r>
              <a:rPr lang="es-ES" dirty="0"/>
              <a:t>normal</a:t>
            </a:r>
            <a:r>
              <a:rPr lang="es-ES" baseline="0" dirty="0"/>
              <a:t>, in line – block)</a:t>
            </a:r>
            <a:endParaRPr lang="es-ES" b="1" dirty="0"/>
          </a:p>
          <a:p>
            <a:pPr lvl="1" algn="just"/>
            <a:r>
              <a:rPr lang="es-ES" b="1" err="1"/>
              <a:t>static</a:t>
            </a:r>
            <a:r>
              <a:rPr lang="es-ES" dirty="0"/>
              <a:t>: Es el valor por defecto. Se colocan siguiendo el flujo normal del documento y </a:t>
            </a:r>
            <a:r>
              <a:rPr lang="es-ES" dirty="0">
                <a:solidFill>
                  <a:srgbClr val="0070C0"/>
                </a:solidFill>
              </a:rPr>
              <a:t>no se ven afectados por las propiedades de desplazamiento </a:t>
            </a:r>
            <a:r>
              <a:rPr lang="es-ES" dirty="0">
                <a:solidFill>
                  <a:srgbClr val="FFC000"/>
                </a:solidFill>
              </a:rPr>
              <a:t>(top, </a:t>
            </a:r>
            <a:r>
              <a:rPr lang="es-ES" err="1">
                <a:solidFill>
                  <a:srgbClr val="FFC000"/>
                </a:solidFill>
              </a:rPr>
              <a:t>left</a:t>
            </a:r>
            <a:r>
              <a:rPr lang="es-ES" dirty="0">
                <a:solidFill>
                  <a:srgbClr val="FFC000"/>
                </a:solidFill>
              </a:rPr>
              <a:t>, </a:t>
            </a:r>
            <a:r>
              <a:rPr lang="es-ES" err="1">
                <a:solidFill>
                  <a:srgbClr val="FFC000"/>
                </a:solidFill>
              </a:rPr>
              <a:t>right</a:t>
            </a:r>
            <a:r>
              <a:rPr lang="es-ES" dirty="0">
                <a:solidFill>
                  <a:srgbClr val="FFC000"/>
                </a:solidFill>
              </a:rPr>
              <a:t>, bottom).</a:t>
            </a:r>
          </a:p>
          <a:p>
            <a:pPr lvl="1" algn="just"/>
            <a:r>
              <a:rPr lang="es-ES" b="1" dirty="0"/>
              <a:t>relative</a:t>
            </a:r>
            <a:r>
              <a:rPr lang="es-ES" dirty="0"/>
              <a:t>: Desplaza un elemento en relación con su posición original dentro del flujo del documento. </a:t>
            </a:r>
            <a:r>
              <a:rPr lang="es-ES" dirty="0">
                <a:solidFill>
                  <a:schemeClr val="accent2"/>
                </a:solidFill>
              </a:rPr>
              <a:t>Su posición original sigue siendo ocupada por él.</a:t>
            </a:r>
          </a:p>
          <a:p>
            <a:pPr lvl="1" algn="just"/>
            <a:r>
              <a:rPr lang="es-ES" b="1" dirty="0"/>
              <a:t>absolute</a:t>
            </a:r>
            <a:r>
              <a:rPr lang="es-ES" dirty="0"/>
              <a:t>: Posiciona un elemento en relación con su contenedor más cercano que tenga position diferente de </a:t>
            </a:r>
            <a:r>
              <a:rPr lang="es-ES" dirty="0" err="1"/>
              <a:t>static</a:t>
            </a:r>
            <a:r>
              <a:rPr lang="es-ES" dirty="0"/>
              <a:t>. Si no, se posiciona con el </a:t>
            </a:r>
            <a:r>
              <a:rPr lang="es-ES" dirty="0" err="1"/>
              <a:t>body</a:t>
            </a:r>
            <a:r>
              <a:rPr lang="es-ES" dirty="0"/>
              <a:t>. </a:t>
            </a:r>
            <a:r>
              <a:rPr lang="es-ES" dirty="0">
                <a:solidFill>
                  <a:schemeClr val="accent2"/>
                </a:solidFill>
              </a:rPr>
              <a:t>Ya NO se reserva su espacio.</a:t>
            </a:r>
          </a:p>
          <a:p>
            <a:pPr lvl="1" algn="just"/>
            <a:r>
              <a:rPr lang="es-ES" b="1" err="1"/>
              <a:t>fixed</a:t>
            </a:r>
            <a:r>
              <a:rPr lang="es-ES" dirty="0"/>
              <a:t>: Se fija con la ventana del navegador. </a:t>
            </a:r>
            <a:r>
              <a:rPr lang="es-ES" dirty="0">
                <a:solidFill>
                  <a:srgbClr val="0070C0"/>
                </a:solidFill>
              </a:rPr>
              <a:t>N</a:t>
            </a:r>
            <a:r>
              <a:rPr lang="es-ES" dirty="0">
                <a:solidFill>
                  <a:schemeClr val="accent2"/>
                </a:solidFill>
              </a:rPr>
              <a:t>o se moverá</a:t>
            </a:r>
            <a:r>
              <a:rPr lang="es-ES" dirty="0"/>
              <a:t> al hacer </a:t>
            </a:r>
            <a:r>
              <a:rPr lang="es-ES" err="1"/>
              <a:t>scroll</a:t>
            </a:r>
            <a:r>
              <a:rPr lang="es-ES" dirty="0"/>
              <a:t> </a:t>
            </a:r>
          </a:p>
          <a:p>
            <a:pPr lvl="1" algn="just"/>
            <a:r>
              <a:rPr lang="es-ES" b="1" err="1"/>
              <a:t>sticky</a:t>
            </a:r>
            <a:r>
              <a:rPr lang="es-ES" dirty="0"/>
              <a:t>: Combina las características de relative y </a:t>
            </a:r>
            <a:r>
              <a:rPr lang="es-ES" err="1"/>
              <a:t>fixed</a:t>
            </a:r>
            <a:r>
              <a:rPr lang="es-ES" dirty="0"/>
              <a:t>. El elemento se comporta como relative hasta que el usuario hace </a:t>
            </a:r>
            <a:r>
              <a:rPr lang="es-ES" err="1"/>
              <a:t>scroll</a:t>
            </a:r>
            <a:r>
              <a:rPr lang="es-ES" dirty="0"/>
              <a:t> más allá de un umbral especificado, momento en el cual pasa a comportarse como </a:t>
            </a:r>
            <a:r>
              <a:rPr lang="es-ES" err="1"/>
              <a:t>fixed</a:t>
            </a:r>
            <a:r>
              <a:rPr lang="es-ES" dirty="0"/>
              <a:t>.</a:t>
            </a:r>
          </a:p>
          <a:p>
            <a:pPr lvl="1" algn="just"/>
            <a:r>
              <a:rPr lang="es-ES" b="1" dirty="0"/>
              <a:t>Z-</a:t>
            </a:r>
            <a:r>
              <a:rPr lang="es-ES" b="1" err="1"/>
              <a:t>index</a:t>
            </a:r>
            <a:r>
              <a:rPr lang="es-ES" dirty="0"/>
              <a:t>: orden de apilamiento</a:t>
            </a:r>
          </a:p>
          <a:p>
            <a:pPr lvl="1" algn="just"/>
            <a:r>
              <a:rPr lang="es-ES" dirty="0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Ejemplo</a:t>
            </a:r>
            <a:r>
              <a:rPr lang="es-ES" dirty="0">
                <a:solidFill>
                  <a:srgbClr val="00B050"/>
                </a:solidFill>
              </a:rPr>
              <a:t>:</a:t>
            </a:r>
          </a:p>
          <a:p>
            <a:pPr lvl="1" algn="just"/>
            <a:r>
              <a:rPr lang="es-ES" dirty="0">
                <a:solidFill>
                  <a:srgbClr val="00B050"/>
                </a:solidFill>
              </a:rPr>
              <a:t>Sigue las instrucciones de la página para hacer cambios en VSC y jugar con las opciones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0213F4-1D61-13EB-3411-ADF769D4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766" y="1333429"/>
            <a:ext cx="1117234" cy="877686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8C82F25A-1AA4-5B59-16CC-A2B6223B5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892" y="5245057"/>
            <a:ext cx="1927042" cy="6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95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915E-1A5A-BF1A-7F34-43683338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7.3 INTRODUCCIÓN</a:t>
            </a:r>
            <a:r>
              <a:rPr lang="es-ES" baseline="0" dirty="0"/>
              <a:t> A LA MAQUETACION WEB TAREA </a:t>
            </a:r>
            <a:r>
              <a:rPr lang="es-ES" dirty="0"/>
              <a:t>04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2778794-3CDE-FD25-C622-F655A89CB3F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1" y="649842"/>
            <a:ext cx="7025833" cy="5300662"/>
          </a:xfrm>
        </p:spPr>
        <p:txBody>
          <a:bodyPr/>
          <a:lstStyle/>
          <a:p>
            <a:r>
              <a:rPr lang="es-ES" b="1" dirty="0" err="1"/>
              <a:t>Flexbox</a:t>
            </a:r>
            <a:r>
              <a:rPr lang="es-ES" dirty="0"/>
              <a:t> es un sistema de diseño unidimensional que facilita la alineación y distribución de elementos dentro de un contenedor, ya sea horizontal o verticalmente.</a:t>
            </a:r>
          </a:p>
          <a:p>
            <a:r>
              <a:rPr lang="es-ES" dirty="0"/>
              <a:t>Se utiliza la propiedad </a:t>
            </a:r>
            <a:r>
              <a:rPr lang="es-ES" dirty="0" err="1"/>
              <a:t>display</a:t>
            </a:r>
            <a:r>
              <a:rPr lang="es-ES" dirty="0"/>
              <a:t>: </a:t>
            </a:r>
            <a:r>
              <a:rPr lang="es-ES" dirty="0" err="1"/>
              <a:t>flex</a:t>
            </a:r>
            <a:r>
              <a:rPr lang="es-ES" dirty="0"/>
              <a:t> en el contenedor padre, lo que convierte a los elementos hijos en “</a:t>
            </a:r>
            <a:r>
              <a:rPr lang="es-ES" dirty="0" err="1"/>
              <a:t>flex</a:t>
            </a:r>
            <a:r>
              <a:rPr lang="es-ES" dirty="0"/>
              <a:t> </a:t>
            </a:r>
            <a:r>
              <a:rPr lang="es-ES" dirty="0" err="1"/>
              <a:t>items</a:t>
            </a:r>
            <a:r>
              <a:rPr lang="es-ES" dirty="0"/>
              <a:t>”. </a:t>
            </a:r>
            <a:r>
              <a:rPr lang="es-ES" dirty="0">
                <a:hlinkClick r:id="rId2"/>
              </a:rPr>
              <a:t>ejemplo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0213F4-1D61-13EB-3411-ADF769D4E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28" y="1287740"/>
            <a:ext cx="2021772" cy="15882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0E8EBBC-E592-821D-5136-987F2C8CF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0684"/>
            <a:ext cx="9144000" cy="18668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EBF644D-4FFB-A0C2-04D6-FA6162765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70744"/>
            <a:ext cx="9144000" cy="20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3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915E-1A5A-BF1A-7F34-43683338C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85"/>
            <a:ext cx="8148577" cy="649357"/>
          </a:xfrm>
        </p:spPr>
        <p:txBody>
          <a:bodyPr>
            <a:normAutofit/>
          </a:bodyPr>
          <a:lstStyle/>
          <a:p>
            <a:r>
              <a:rPr lang="es-ES" dirty="0"/>
              <a:t>7.4 INTRODUCCIÓN</a:t>
            </a:r>
            <a:r>
              <a:rPr lang="es-ES" baseline="0" dirty="0"/>
              <a:t> A LA MAQUETACION WEB: TAREA </a:t>
            </a:r>
            <a:r>
              <a:rPr lang="es-ES" dirty="0"/>
              <a:t>05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2778794-3CDE-FD25-C622-F655A89CB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CSS </a:t>
            </a:r>
            <a:r>
              <a:rPr lang="es-ES" b="1" dirty="0" err="1"/>
              <a:t>Grid</a:t>
            </a:r>
            <a:r>
              <a:rPr lang="es-ES" dirty="0"/>
              <a:t> es un sistema de diseño bidimensional que permite controlar tanto filas como columnas.</a:t>
            </a:r>
          </a:p>
          <a:p>
            <a:r>
              <a:rPr lang="es-ES" dirty="0"/>
              <a:t>A diferencia de </a:t>
            </a:r>
            <a:r>
              <a:rPr lang="es-ES" dirty="0" err="1"/>
              <a:t>Flexbox</a:t>
            </a:r>
            <a:r>
              <a:rPr lang="es-ES" dirty="0"/>
              <a:t>, que se enfoca en un solo eje (horizontal o vertical), </a:t>
            </a:r>
            <a:r>
              <a:rPr lang="es-ES" dirty="0" err="1"/>
              <a:t>Grid</a:t>
            </a:r>
            <a:r>
              <a:rPr lang="es-ES" dirty="0"/>
              <a:t> permite trabajar con ambos ejes simultáneamente, proporcionando mayor control sobre el diseño. </a:t>
            </a:r>
            <a:r>
              <a:rPr lang="es-ES" dirty="0">
                <a:hlinkClick r:id="rId3"/>
              </a:rPr>
              <a:t>ejemplo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0213F4-1D61-13EB-3411-ADF769D4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28" y="1336580"/>
            <a:ext cx="2021772" cy="15882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7C1197D-F227-1E4B-0D6A-0CAA8682A81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2636"/>
          <a:stretch/>
        </p:blipFill>
        <p:spPr>
          <a:xfrm>
            <a:off x="342749" y="2648066"/>
            <a:ext cx="7030324" cy="11943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9CE8183-F60B-8CBA-04B9-A4583CEEE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5408" y="4609002"/>
            <a:ext cx="5077779" cy="21702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7600C1E-10F8-EEFC-E3BA-7541961F5C6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923" b="8163"/>
          <a:stretch/>
        </p:blipFill>
        <p:spPr>
          <a:xfrm>
            <a:off x="342749" y="3761772"/>
            <a:ext cx="6159370" cy="81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31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FF0AD-9830-6298-2BC3-5BB45848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E64B17-1D90-B51B-8C33-F0AEF477A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Diseño previo, boceto</a:t>
            </a:r>
          </a:p>
          <a:p>
            <a:pPr lvl="1"/>
            <a:r>
              <a:rPr lang="es-ES" dirty="0"/>
              <a:t>A mano</a:t>
            </a:r>
          </a:p>
          <a:p>
            <a:pPr lvl="1"/>
            <a:r>
              <a:rPr lang="es-ES" dirty="0" err="1"/>
              <a:t>Mocks</a:t>
            </a:r>
            <a:endParaRPr lang="es-ES" dirty="0"/>
          </a:p>
          <a:p>
            <a:pPr lvl="2"/>
            <a:r>
              <a:rPr lang="es-ES" dirty="0">
                <a:hlinkClick r:id="rId2"/>
              </a:rPr>
              <a:t>www.mockflow.com</a:t>
            </a:r>
            <a:r>
              <a:rPr lang="es-ES" dirty="0"/>
              <a:t> </a:t>
            </a:r>
          </a:p>
          <a:p>
            <a:pPr lvl="2"/>
            <a:r>
              <a:rPr lang="es-ES" dirty="0">
                <a:hlinkClick r:id="rId3"/>
              </a:rPr>
              <a:t>www.ninjamock.com</a:t>
            </a:r>
            <a:r>
              <a:rPr lang="es-ES" dirty="0"/>
              <a:t> </a:t>
            </a:r>
          </a:p>
          <a:p>
            <a:r>
              <a:rPr lang="es-ES" dirty="0"/>
              <a:t>Introducir primero elementos grandes (contenedores)</a:t>
            </a:r>
          </a:p>
          <a:p>
            <a:r>
              <a:rPr lang="es-ES" dirty="0"/>
              <a:t>Usar el inspector de elementos</a:t>
            </a:r>
          </a:p>
          <a:p>
            <a:r>
              <a:rPr lang="es-ES" dirty="0"/>
              <a:t>Probar en varios navegadores</a:t>
            </a:r>
          </a:p>
          <a:p>
            <a:endParaRPr lang="es-ES" dirty="0"/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1282516"/>
      </p:ext>
    </p:extLst>
  </p:cSld>
  <p:clrMapOvr>
    <a:masterClrMapping/>
  </p:clrMapOvr>
</p:sld>
</file>

<file path=ppt/theme/theme1.xml><?xml version="1.0" encoding="utf-8"?>
<a:theme xmlns:a="http://schemas.openxmlformats.org/drawingml/2006/main" name="LMarcas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arcas" id="{22BFDEF7-59F4-4A7A-9195-57B6AB154D73}" vid="{B2F89F0D-0036-417B-B966-F2A51E79D3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LM</Template>
  <TotalTime>3867</TotalTime>
  <Words>2119</Words>
  <Application>Microsoft Office PowerPoint</Application>
  <PresentationFormat>Presentación en pantalla (4:3)</PresentationFormat>
  <Paragraphs>249</Paragraphs>
  <Slides>28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LMarcas</vt:lpstr>
      <vt:lpstr>UT 3 CSS</vt:lpstr>
      <vt:lpstr>CONTENIDO UT2 + UT 3</vt:lpstr>
      <vt:lpstr>1 INTRODUCCIÓN CSS</vt:lpstr>
      <vt:lpstr>1 INTRODUCCIÓN CSS</vt:lpstr>
      <vt:lpstr>2 ESTRUCTURA Y SINTAXIS: LAS REGLAS CSS</vt:lpstr>
      <vt:lpstr>3 APLICACIÓN: EXTERNO, INTERNO, IN-LINE</vt:lpstr>
      <vt:lpstr>4 PRIORIDADES</vt:lpstr>
      <vt:lpstr>4 HERENCIA</vt:lpstr>
      <vt:lpstr>5 VALORES Y UNIDADES: Tipos de datos</vt:lpstr>
      <vt:lpstr>5 VALORES Y UNIDADES</vt:lpstr>
      <vt:lpstr>5 VALORES Y UNIDADES</vt:lpstr>
      <vt:lpstr>5 VALORES Y UNIDADES</vt:lpstr>
      <vt:lpstr>5 VALORES Y UNIDADES</vt:lpstr>
      <vt:lpstr>6 SELECTORES CSS en ejemplo 9 se usan selectores básicos  </vt:lpstr>
      <vt:lpstr>6 TAREA 01: Uso de selectores (w3)</vt:lpstr>
      <vt:lpstr>6 SELECTORES CSS</vt:lpstr>
      <vt:lpstr>REFERENCIA MÍNIMA</vt:lpstr>
      <vt:lpstr>REFERENCIA MÍNIMA TA 02: Batería de estilos de prueba </vt:lpstr>
      <vt:lpstr>REFERENCIA MÍNIMA</vt:lpstr>
      <vt:lpstr>7.1 INTRODUCCIÓN A LA MAQUETACION WEB</vt:lpstr>
      <vt:lpstr>7.1 INTRODUCCIÓN A LA MAQUETACION WEB</vt:lpstr>
      <vt:lpstr>7.1 CAJA CSS</vt:lpstr>
      <vt:lpstr>REFERENCIA MÍNIMA</vt:lpstr>
      <vt:lpstr>7.1 EN BLOQUE Y EN LÍNEA</vt:lpstr>
      <vt:lpstr>7.2 PROPIEDAD POSITION TAREA 03</vt:lpstr>
      <vt:lpstr>7.3 INTRODUCCIÓN A LA MAQUETACION WEB TAREA 04</vt:lpstr>
      <vt:lpstr>7.4 INTRODUCCIÓN A LA MAQUETACION WEB: TAREA 05</vt:lpstr>
      <vt:lpstr>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TRIGUEROS MUÑOZ</dc:creator>
  <cp:lastModifiedBy>MIGUEL TRIGUEROS MUÑOZ</cp:lastModifiedBy>
  <cp:revision>190</cp:revision>
  <dcterms:created xsi:type="dcterms:W3CDTF">2024-08-31T08:19:33Z</dcterms:created>
  <dcterms:modified xsi:type="dcterms:W3CDTF">2025-11-10T08:42:38Z</dcterms:modified>
</cp:coreProperties>
</file>